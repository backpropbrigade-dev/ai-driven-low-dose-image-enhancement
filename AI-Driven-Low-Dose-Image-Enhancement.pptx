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8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5143500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9200" y="766003"/>
            <a:ext cx="3720627" cy="360120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675" y="815736"/>
            <a:ext cx="3720627" cy="35020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1075" y="214989"/>
            <a:ext cx="7818820" cy="6929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2087" y="1232812"/>
            <a:ext cx="7324725" cy="1582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56125" y="4773120"/>
            <a:ext cx="230624" cy="1803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95959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jpe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1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2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www.mdpi.com/2313-433X/7/3/44" TargetMode="External"/><Relationship Id="rId2" Type="http://schemas.openxmlformats.org/officeDocument/2006/relationships/hyperlink" Target="https://www.nature.com/articles/s41597-021-00893-z" TargetMode="External"/><Relationship Id="rId1" Type="http://schemas.openxmlformats.org/officeDocument/2006/relationships/hyperlink" Target="https://ieeexplore.ieee.org/stamp/stamp.jsp?arnumber=10979336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66750"/>
            <a:ext cx="8258810" cy="1123315"/>
          </a:xfrm>
        </p:spPr>
        <p:txBody>
          <a:bodyPr>
            <a:noAutofit/>
          </a:bodyPr>
          <a:p>
            <a:pPr algn="ctr"/>
            <a:r>
              <a:rPr lang="en-IN" altLang="en-US" sz="2400"/>
              <a:t>Biomedical Image Enhancement using </a:t>
            </a:r>
            <a:br>
              <a:rPr lang="en-IN" altLang="en-US" sz="2400"/>
            </a:br>
            <a:r>
              <a:rPr lang="en-IN" altLang="en-US" sz="2400"/>
              <a:t>Hybrid Techniques</a:t>
            </a:r>
            <a:endParaRPr lang="en-IN" altLang="en-US"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740535"/>
            <a:ext cx="8012430" cy="2141855"/>
          </a:xfrm>
        </p:spPr>
        <p:txBody>
          <a:bodyPr>
            <a:noAutofit/>
          </a:bodyPr>
          <a:p>
            <a:pPr algn="ctr"/>
            <a:r>
              <a:rPr lang="en-IN" altLang="en-US" sz="2000" b="1"/>
              <a:t>Presented by:</a:t>
            </a:r>
            <a:endParaRPr lang="en-IN" altLang="en-US" sz="2000" b="1"/>
          </a:p>
          <a:p>
            <a:pPr algn="ctr"/>
            <a:r>
              <a:rPr lang="en-IN" altLang="en-US" sz="2000"/>
              <a:t>Anem GnanaGanesh</a:t>
            </a:r>
            <a:endParaRPr lang="en-IN" altLang="en-US" sz="2000"/>
          </a:p>
          <a:p>
            <a:pPr algn="ctr"/>
            <a:r>
              <a:rPr lang="en-IN" altLang="en-US" sz="2000"/>
              <a:t>Chinthamani Manoj Ram Sai</a:t>
            </a:r>
            <a:endParaRPr lang="en-IN" altLang="en-US" sz="2000"/>
          </a:p>
          <a:p>
            <a:pPr algn="ctr"/>
            <a:r>
              <a:rPr lang="en-IN" altLang="en-US" sz="2000"/>
              <a:t>Annam Yogitha</a:t>
            </a:r>
            <a:endParaRPr lang="en-IN" altLang="en-US" sz="2000"/>
          </a:p>
          <a:p>
            <a:pPr algn="ctr"/>
            <a:endParaRPr lang="en-IN" altLang="en-US" sz="2000"/>
          </a:p>
          <a:p>
            <a:pPr algn="ctr"/>
            <a:r>
              <a:rPr lang="en-IN" altLang="en-US" sz="2000" b="1"/>
              <a:t>Contact:</a:t>
            </a:r>
            <a:endParaRPr lang="en-IN" altLang="en-US" sz="2000" b="1"/>
          </a:p>
          <a:p>
            <a:pPr algn="ctr"/>
            <a:r>
              <a:rPr lang="en-IN" altLang="en-US" sz="1800"/>
              <a:t>backpropbrigade@gmail.com</a:t>
            </a:r>
            <a:endParaRPr lang="en-IN" altLang="en-US" sz="1800"/>
          </a:p>
          <a:p>
            <a:pPr algn="ctr"/>
            <a:endParaRPr lang="en-IN" altLang="en-US" sz="1800"/>
          </a:p>
          <a:p>
            <a:pPr algn="ctr"/>
            <a:endParaRPr lang="en-IN" altLang="en-US" sz="2000" b="1"/>
          </a:p>
          <a:p>
            <a:pPr algn="ctr"/>
            <a:endParaRPr lang="en-IN" altLang="en-US" sz="2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4984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00"/>
              </a:spcBef>
            </a:pPr>
            <a:r>
              <a:rPr sz="2200" spc="-10" dirty="0"/>
              <a:t>Contents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384725" y="1175208"/>
            <a:ext cx="3414395" cy="286512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45415" indent="-132715">
              <a:lnSpc>
                <a:spcPct val="100000"/>
              </a:lnSpc>
              <a:spcBef>
                <a:spcPts val="420"/>
              </a:spcBef>
              <a:buChar char="-"/>
              <a:tabLst>
                <a:tab pos="145415" algn="l"/>
              </a:tabLst>
            </a:pP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Introduction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45415" indent="-132715">
              <a:lnSpc>
                <a:spcPct val="100000"/>
              </a:lnSpc>
              <a:spcBef>
                <a:spcPts val="325"/>
              </a:spcBef>
              <a:buChar char="-"/>
              <a:tabLst>
                <a:tab pos="145415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Problem</a:t>
            </a:r>
            <a:r>
              <a:rPr sz="1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Statement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45415" indent="-132715">
              <a:lnSpc>
                <a:spcPct val="100000"/>
              </a:lnSpc>
              <a:spcBef>
                <a:spcPts val="325"/>
              </a:spcBef>
              <a:buChar char="-"/>
              <a:tabLst>
                <a:tab pos="145415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FBP</a:t>
            </a:r>
            <a:r>
              <a:rPr sz="18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Metrics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45415" indent="-132715">
              <a:lnSpc>
                <a:spcPct val="100000"/>
              </a:lnSpc>
              <a:spcBef>
                <a:spcPts val="325"/>
              </a:spcBef>
              <a:buChar char="-"/>
              <a:tabLst>
                <a:tab pos="145415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Preprocessing</a:t>
            </a:r>
            <a:r>
              <a:rPr sz="18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Sinogram</a:t>
            </a:r>
            <a:r>
              <a:rPr sz="18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Domain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45415" indent="-132715">
              <a:lnSpc>
                <a:spcPct val="100000"/>
              </a:lnSpc>
              <a:spcBef>
                <a:spcPts val="325"/>
              </a:spcBef>
              <a:buChar char="-"/>
              <a:tabLst>
                <a:tab pos="145415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Post</a:t>
            </a:r>
            <a:r>
              <a:rPr sz="1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Processing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Image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Domain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40970" indent="-128270">
              <a:lnSpc>
                <a:spcPct val="100000"/>
              </a:lnSpc>
              <a:spcBef>
                <a:spcPts val="320"/>
              </a:spcBef>
              <a:buChar char="-"/>
              <a:tabLst>
                <a:tab pos="140970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TV</a:t>
            </a:r>
            <a:r>
              <a:rPr sz="18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Regularization</a:t>
            </a:r>
            <a:r>
              <a:rPr sz="18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Method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45415" indent="-132715">
              <a:lnSpc>
                <a:spcPct val="100000"/>
              </a:lnSpc>
              <a:spcBef>
                <a:spcPts val="325"/>
              </a:spcBef>
              <a:buChar char="-"/>
              <a:tabLst>
                <a:tab pos="145415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Learned</a:t>
            </a:r>
            <a:r>
              <a:rPr sz="1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Primal</a:t>
            </a:r>
            <a:r>
              <a:rPr sz="18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Dual</a:t>
            </a:r>
            <a:r>
              <a:rPr sz="18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Method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45415" indent="-132715">
              <a:lnSpc>
                <a:spcPct val="100000"/>
              </a:lnSpc>
              <a:spcBef>
                <a:spcPts val="325"/>
              </a:spcBef>
              <a:buChar char="-"/>
              <a:tabLst>
                <a:tab pos="145415" algn="l"/>
              </a:tabLst>
            </a:pP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Progress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40970" indent="-128270">
              <a:lnSpc>
                <a:spcPct val="100000"/>
              </a:lnSpc>
              <a:spcBef>
                <a:spcPts val="325"/>
              </a:spcBef>
              <a:buChar char="-"/>
              <a:tabLst>
                <a:tab pos="140970" algn="l"/>
              </a:tabLst>
            </a:pP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Timeline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950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00"/>
              </a:spcBef>
            </a:pPr>
            <a:r>
              <a:rPr sz="2000" b="0" dirty="0">
                <a:latin typeface="Times New Roman" panose="02020603050405020304"/>
                <a:cs typeface="Times New Roman" panose="02020603050405020304"/>
              </a:rPr>
              <a:t>Problem</a:t>
            </a:r>
            <a:r>
              <a:rPr sz="2000" b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0" spc="-10" dirty="0">
                <a:latin typeface="Times New Roman" panose="02020603050405020304"/>
                <a:cs typeface="Times New Roman" panose="02020603050405020304"/>
              </a:rPr>
              <a:t>statement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873687" y="2851362"/>
            <a:ext cx="2199949" cy="17880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662487" y="2454029"/>
            <a:ext cx="622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Noisy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CT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4416" y="4597929"/>
            <a:ext cx="614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Clean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CT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4545" y="756920"/>
            <a:ext cx="2178050" cy="171132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3901" y="740525"/>
            <a:ext cx="2372200" cy="17436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899" y="2791437"/>
            <a:ext cx="2372199" cy="190792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390904" y="2454025"/>
            <a:ext cx="7156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Noisy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MRI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12" name="object 12"/>
          <p:cNvSpPr txBox="1"/>
          <p:nvPr/>
        </p:nvSpPr>
        <p:spPr>
          <a:xfrm>
            <a:off x="3421274" y="4658729"/>
            <a:ext cx="7073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Clean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MRI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4725" y="1286255"/>
            <a:ext cx="14770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Why</a:t>
            </a:r>
            <a:r>
              <a:rPr sz="1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Image Enhancement</a:t>
            </a:r>
            <a:r>
              <a:rPr sz="1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critical?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4725" y="3225381"/>
            <a:ext cx="11747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Why</a:t>
            </a:r>
            <a:r>
              <a:rPr sz="1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Hybrid Techniques?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451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00"/>
              </a:spcBef>
            </a:pPr>
            <a:r>
              <a:rPr sz="2000" b="0" dirty="0">
                <a:latin typeface="Times New Roman" panose="02020603050405020304"/>
                <a:cs typeface="Times New Roman" panose="02020603050405020304"/>
              </a:rPr>
              <a:t>LoDoPaB</a:t>
            </a:r>
            <a:r>
              <a:rPr sz="2000" b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2000" b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0" dirty="0">
                <a:latin typeface="Times New Roman" panose="02020603050405020304"/>
                <a:cs typeface="Times New Roman" panose="02020603050405020304"/>
              </a:rPr>
              <a:t>CT</a:t>
            </a:r>
            <a:r>
              <a:rPr sz="2000" b="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2000" b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0" dirty="0">
                <a:latin typeface="Times New Roman" panose="02020603050405020304"/>
                <a:cs typeface="Times New Roman" panose="02020603050405020304"/>
              </a:rPr>
              <a:t>Benchmark</a:t>
            </a:r>
            <a:r>
              <a:rPr sz="2000" b="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0" dirty="0">
                <a:latin typeface="Times New Roman" panose="02020603050405020304"/>
                <a:cs typeface="Times New Roman" panose="02020603050405020304"/>
              </a:rPr>
              <a:t>dataset</a:t>
            </a:r>
            <a:r>
              <a:rPr sz="2000" b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000" b="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0" dirty="0">
                <a:latin typeface="Times New Roman" panose="02020603050405020304"/>
                <a:cs typeface="Times New Roman" panose="02020603050405020304"/>
              </a:rPr>
              <a:t>Low</a:t>
            </a:r>
            <a:r>
              <a:rPr sz="2000" b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0" dirty="0">
                <a:latin typeface="Times New Roman" panose="02020603050405020304"/>
                <a:cs typeface="Times New Roman" panose="02020603050405020304"/>
              </a:rPr>
              <a:t>Dose</a:t>
            </a:r>
            <a:r>
              <a:rPr sz="2000" b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0" spc="-10" dirty="0">
                <a:latin typeface="Times New Roman" panose="02020603050405020304"/>
                <a:cs typeface="Times New Roman" panose="02020603050405020304"/>
              </a:rPr>
              <a:t>recon</a:t>
            </a:r>
            <a:r>
              <a:rPr b="0" spc="-10" dirty="0">
                <a:latin typeface="Times New Roman" panose="02020603050405020304"/>
                <a:cs typeface="Times New Roman" panose="02020603050405020304"/>
              </a:rPr>
              <a:t>struction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1496" y="2260383"/>
            <a:ext cx="118745" cy="900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10"/>
              </a:lnSpc>
            </a:pPr>
            <a:r>
              <a:rPr sz="1200" spc="-60" dirty="0">
                <a:latin typeface="Times New Roman" panose="02020603050405020304"/>
                <a:cs typeface="Times New Roman" panose="02020603050405020304"/>
              </a:rPr>
              <a:t>&amp;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0640">
              <a:lnSpc>
                <a:spcPct val="10000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n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9987" y="1865329"/>
            <a:ext cx="4339590" cy="18694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4490" marR="5080" indent="-3429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64490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Designed</a:t>
            </a:r>
            <a:r>
              <a:rPr sz="1200" spc="3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200" spc="3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evaluating</a:t>
            </a:r>
            <a:r>
              <a:rPr sz="1200" spc="3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reconstruction</a:t>
            </a:r>
            <a:r>
              <a:rPr sz="1200" spc="3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methods</a:t>
            </a:r>
            <a:r>
              <a:rPr sz="1200" spc="3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spc="3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solidFill>
                  <a:srgbClr val="CC4125"/>
                </a:solidFill>
                <a:latin typeface="Times New Roman" panose="02020603050405020304"/>
                <a:cs typeface="Times New Roman" panose="02020603050405020304"/>
              </a:rPr>
              <a:t>low-dose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settings.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364490" marR="156845" indent="-342900">
              <a:lnSpc>
                <a:spcPct val="100000"/>
              </a:lnSpc>
              <a:buAutoNum type="arabicPeriod"/>
              <a:tabLst>
                <a:tab pos="364490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Provides</a:t>
            </a:r>
            <a:r>
              <a:rPr sz="1200" spc="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200" spc="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standard</a:t>
            </a:r>
            <a:r>
              <a:rPr sz="1200" spc="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benchmark</a:t>
            </a:r>
            <a:r>
              <a:rPr sz="1200" spc="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200" spc="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comparing</a:t>
            </a:r>
            <a:r>
              <a:rPr sz="1200" spc="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deep</a:t>
            </a:r>
            <a:r>
              <a:rPr sz="1200" spc="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learning classical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methods.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364490" indent="-342900">
              <a:lnSpc>
                <a:spcPct val="100000"/>
              </a:lnSpc>
              <a:buAutoNum type="arabicPeriod"/>
              <a:tabLst>
                <a:tab pos="364490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~40,000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slices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812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patients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(LIDC/IDRI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database).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364490" indent="-342900">
              <a:lnSpc>
                <a:spcPct val="100000"/>
              </a:lnSpc>
              <a:buAutoNum type="arabicPeriod"/>
              <a:tabLst>
                <a:tab pos="364490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Simulated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low-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dose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parallel-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beam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CT.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364490" marR="58420" indent="-342900">
              <a:lnSpc>
                <a:spcPct val="100000"/>
              </a:lnSpc>
              <a:buAutoNum type="arabicPeriod"/>
              <a:tabLst>
                <a:tab pos="364490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Corrupted</a:t>
            </a:r>
            <a:r>
              <a:rPr sz="1200" spc="114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200" spc="114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Poisson</a:t>
            </a:r>
            <a:r>
              <a:rPr sz="1200" spc="114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noise</a:t>
            </a:r>
            <a:r>
              <a:rPr sz="1200" spc="12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200" spc="114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mimics</a:t>
            </a:r>
            <a:r>
              <a:rPr sz="1200" spc="114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real</a:t>
            </a:r>
            <a:r>
              <a:rPr sz="1200" spc="114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low-photo measurements.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364490" indent="-342900">
              <a:lnSpc>
                <a:spcPts val="1440"/>
              </a:lnSpc>
              <a:buAutoNum type="arabicPeriod"/>
              <a:tabLst>
                <a:tab pos="364490" algn="l"/>
              </a:tabLst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Resolution: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362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×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362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px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cropped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thoracic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CT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slices.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364490" indent="-351790">
              <a:lnSpc>
                <a:spcPts val="1560"/>
              </a:lnSpc>
              <a:buSzPct val="108000"/>
              <a:buAutoNum type="arabicPeriod"/>
              <a:tabLst>
                <a:tab pos="364490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Projections: 1000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angles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×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513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detector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pixels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per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slice.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640787" y="2027400"/>
            <a:ext cx="4466590" cy="2056764"/>
            <a:chOff x="4640787" y="2027400"/>
            <a:chExt cx="4466590" cy="2056764"/>
          </a:xfrm>
        </p:grpSpPr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640787" y="2027400"/>
              <a:ext cx="2742300" cy="20567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09275" y="2160637"/>
              <a:ext cx="1698074" cy="168496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023200" y="1049854"/>
            <a:ext cx="21837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4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A61B00"/>
                </a:solidFill>
                <a:latin typeface="Times New Roman" panose="02020603050405020304"/>
                <a:cs typeface="Times New Roman" panose="02020603050405020304"/>
              </a:rPr>
              <a:t>Lodopab-</a:t>
            </a:r>
            <a:r>
              <a:rPr sz="1200" spc="-25" dirty="0">
                <a:solidFill>
                  <a:srgbClr val="A61B00"/>
                </a:solidFill>
                <a:latin typeface="Times New Roman" panose="02020603050405020304"/>
                <a:cs typeface="Times New Roman" panose="02020603050405020304"/>
              </a:rPr>
              <a:t>CT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solidFill>
                  <a:srgbClr val="A61B00"/>
                </a:solidFill>
                <a:latin typeface="Times New Roman" panose="02020603050405020304"/>
                <a:cs typeface="Times New Roman" panose="02020603050405020304"/>
              </a:rPr>
              <a:t>┌─────────┴────────┐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53369" y="1415613"/>
            <a:ext cx="1530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A61B00"/>
                </a:solidFill>
                <a:latin typeface="Times New Roman" panose="02020603050405020304"/>
                <a:cs typeface="Times New Roman" panose="02020603050405020304"/>
              </a:rPr>
              <a:t>Observation</a:t>
            </a:r>
            <a:r>
              <a:rPr sz="1200" spc="-60" dirty="0">
                <a:solidFill>
                  <a:srgbClr val="A61B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A61B00"/>
                </a:solidFill>
                <a:latin typeface="Times New Roman" panose="02020603050405020304"/>
                <a:cs typeface="Times New Roman" panose="02020603050405020304"/>
              </a:rPr>
              <a:t>(Sinogram)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solidFill>
                  <a:srgbClr val="A61B00"/>
                </a:solidFill>
                <a:latin typeface="Times New Roman" panose="02020603050405020304"/>
                <a:cs typeface="Times New Roman" panose="02020603050405020304"/>
              </a:rPr>
              <a:t>┌────┼────┐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89800" y="1415613"/>
            <a:ext cx="13747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A61B00"/>
                </a:solidFill>
                <a:latin typeface="Times New Roman" panose="02020603050405020304"/>
                <a:cs typeface="Times New Roman" panose="02020603050405020304"/>
              </a:rPr>
              <a:t>Ground</a:t>
            </a:r>
            <a:r>
              <a:rPr sz="1200" spc="-25" dirty="0">
                <a:solidFill>
                  <a:srgbClr val="A61B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A61B00"/>
                </a:solidFill>
                <a:latin typeface="Times New Roman" panose="02020603050405020304"/>
                <a:cs typeface="Times New Roman" panose="02020603050405020304"/>
              </a:rPr>
              <a:t>Truth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00000"/>
              </a:lnSpc>
            </a:pPr>
            <a:r>
              <a:rPr sz="1200" spc="-10" dirty="0">
                <a:solidFill>
                  <a:srgbClr val="A61B00"/>
                </a:solidFill>
                <a:latin typeface="Times New Roman" panose="02020603050405020304"/>
                <a:cs typeface="Times New Roman" panose="02020603050405020304"/>
              </a:rPr>
              <a:t>┌────┼────┐ </a:t>
            </a:r>
            <a:r>
              <a:rPr sz="1200" dirty="0">
                <a:solidFill>
                  <a:srgbClr val="A61B00"/>
                </a:solidFill>
                <a:latin typeface="Times New Roman" panose="02020603050405020304"/>
                <a:cs typeface="Times New Roman" panose="02020603050405020304"/>
              </a:rPr>
              <a:t>Train</a:t>
            </a:r>
            <a:r>
              <a:rPr sz="1200" spc="150" dirty="0">
                <a:solidFill>
                  <a:srgbClr val="A61B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solidFill>
                  <a:srgbClr val="A61B00"/>
                </a:solidFill>
                <a:latin typeface="Times New Roman" panose="02020603050405020304"/>
                <a:cs typeface="Times New Roman" panose="02020603050405020304"/>
              </a:rPr>
              <a:t>Validation</a:t>
            </a:r>
            <a:r>
              <a:rPr sz="1200" spc="150" dirty="0">
                <a:solidFill>
                  <a:srgbClr val="A61B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30" dirty="0">
                <a:solidFill>
                  <a:srgbClr val="A61B00"/>
                </a:solidFill>
                <a:latin typeface="Times New Roman" panose="02020603050405020304"/>
                <a:cs typeface="Times New Roman" panose="02020603050405020304"/>
              </a:rPr>
              <a:t>Test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84115" y="1781374"/>
            <a:ext cx="14128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A61B00"/>
                </a:solidFill>
                <a:latin typeface="Times New Roman" panose="02020603050405020304"/>
                <a:cs typeface="Times New Roman" panose="02020603050405020304"/>
              </a:rPr>
              <a:t>Train</a:t>
            </a:r>
            <a:r>
              <a:rPr sz="1200" spc="425" dirty="0">
                <a:solidFill>
                  <a:srgbClr val="A61B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solidFill>
                  <a:srgbClr val="A61B00"/>
                </a:solidFill>
                <a:latin typeface="Times New Roman" panose="02020603050405020304"/>
                <a:cs typeface="Times New Roman" panose="02020603050405020304"/>
              </a:rPr>
              <a:t>Validation</a:t>
            </a:r>
            <a:r>
              <a:rPr sz="1200" spc="175" dirty="0">
                <a:solidFill>
                  <a:srgbClr val="A61B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solidFill>
                  <a:srgbClr val="A61B00"/>
                </a:solidFill>
                <a:latin typeface="Times New Roman" panose="02020603050405020304"/>
                <a:cs typeface="Times New Roman" panose="02020603050405020304"/>
              </a:rPr>
              <a:t>Test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26437" y="3829478"/>
            <a:ext cx="14439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Times New Roman" panose="02020603050405020304"/>
                <a:cs typeface="Times New Roman" panose="02020603050405020304"/>
              </a:rPr>
              <a:t>X-</a:t>
            </a:r>
            <a:r>
              <a:rPr sz="900" dirty="0">
                <a:latin typeface="Times New Roman" panose="02020603050405020304"/>
                <a:cs typeface="Times New Roman" panose="02020603050405020304"/>
              </a:rPr>
              <a:t>axis:</a:t>
            </a:r>
            <a:r>
              <a:rPr sz="9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dirty="0">
                <a:latin typeface="Times New Roman" panose="02020603050405020304"/>
                <a:cs typeface="Times New Roman" panose="02020603050405020304"/>
              </a:rPr>
              <a:t>Detector</a:t>
            </a:r>
            <a:r>
              <a:rPr sz="9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dirty="0">
                <a:latin typeface="Times New Roman" panose="02020603050405020304"/>
                <a:cs typeface="Times New Roman" panose="02020603050405020304"/>
              </a:rPr>
              <a:t>index</a:t>
            </a:r>
            <a:r>
              <a:rPr sz="9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latin typeface="Times New Roman" panose="02020603050405020304"/>
                <a:cs typeface="Times New Roman" panose="02020603050405020304"/>
              </a:rPr>
              <a:t>(pixels)</a:t>
            </a:r>
            <a:endParaRPr sz="9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14" name="object 14"/>
          <p:cNvSpPr txBox="1"/>
          <p:nvPr/>
        </p:nvSpPr>
        <p:spPr>
          <a:xfrm>
            <a:off x="7211224" y="2247907"/>
            <a:ext cx="152400" cy="16217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65" dirty="0">
                <a:latin typeface="Times New Roman" panose="02020603050405020304"/>
                <a:cs typeface="Times New Roman" panose="02020603050405020304"/>
              </a:rPr>
              <a:t>Y-</a:t>
            </a:r>
            <a:r>
              <a:rPr sz="900" dirty="0">
                <a:latin typeface="Times New Roman" panose="02020603050405020304"/>
                <a:cs typeface="Times New Roman" panose="02020603050405020304"/>
              </a:rPr>
              <a:t>axis:</a:t>
            </a:r>
            <a:r>
              <a:rPr sz="9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dirty="0">
                <a:latin typeface="Times New Roman" panose="02020603050405020304"/>
                <a:cs typeface="Times New Roman" panose="02020603050405020304"/>
              </a:rPr>
              <a:t>Projection</a:t>
            </a:r>
            <a:r>
              <a:rPr sz="9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dirty="0">
                <a:latin typeface="Times New Roman" panose="02020603050405020304"/>
                <a:cs typeface="Times New Roman" panose="02020603050405020304"/>
              </a:rPr>
              <a:t>angles</a:t>
            </a:r>
            <a:r>
              <a:rPr sz="9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900" spc="-10" dirty="0">
                <a:latin typeface="Times New Roman" panose="02020603050405020304"/>
                <a:cs typeface="Times New Roman" panose="02020603050405020304"/>
              </a:rPr>
              <a:t>(degrees)</a:t>
            </a:r>
            <a:endParaRPr sz="9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7650" y="1397587"/>
            <a:ext cx="12401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 panose="02020603050405020304"/>
                <a:cs typeface="Times New Roman" panose="02020603050405020304"/>
              </a:rPr>
              <a:t>Characteristics: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4009" rIns="0" bIns="0" rtlCol="0">
            <a:spAutoFit/>
          </a:bodyPr>
          <a:lstStyle/>
          <a:p>
            <a:pPr marL="260985">
              <a:lnSpc>
                <a:spcPct val="100000"/>
              </a:lnSpc>
              <a:spcBef>
                <a:spcPts val="100"/>
              </a:spcBef>
            </a:pPr>
            <a:r>
              <a:rPr sz="2200" dirty="0"/>
              <a:t>Mean</a:t>
            </a:r>
            <a:r>
              <a:rPr sz="2200" spc="-55" dirty="0"/>
              <a:t> </a:t>
            </a:r>
            <a:r>
              <a:rPr sz="2200" dirty="0"/>
              <a:t>metrics</a:t>
            </a:r>
            <a:r>
              <a:rPr sz="2200" spc="-35" dirty="0"/>
              <a:t> </a:t>
            </a:r>
            <a:r>
              <a:rPr sz="2200" dirty="0"/>
              <a:t>for</a:t>
            </a:r>
            <a:r>
              <a:rPr sz="2200" spc="-70" dirty="0"/>
              <a:t> </a:t>
            </a:r>
            <a:r>
              <a:rPr sz="2200" dirty="0"/>
              <a:t>test</a:t>
            </a:r>
            <a:r>
              <a:rPr sz="2200" spc="-30" dirty="0"/>
              <a:t> </a:t>
            </a:r>
            <a:r>
              <a:rPr sz="2200" dirty="0"/>
              <a:t>set</a:t>
            </a:r>
            <a:r>
              <a:rPr sz="2200" spc="-25" dirty="0"/>
              <a:t> </a:t>
            </a:r>
            <a:r>
              <a:rPr sz="2200" spc="-10" dirty="0"/>
              <a:t>(different</a:t>
            </a:r>
            <a:r>
              <a:rPr sz="2200" spc="-30" dirty="0"/>
              <a:t> </a:t>
            </a:r>
            <a:r>
              <a:rPr sz="2200" dirty="0"/>
              <a:t>filters)</a:t>
            </a:r>
            <a:r>
              <a:rPr sz="2200" spc="-25" dirty="0"/>
              <a:t> </a:t>
            </a:r>
            <a:r>
              <a:rPr sz="2200" dirty="0"/>
              <a:t>-</a:t>
            </a:r>
            <a:r>
              <a:rPr sz="2200" spc="-30" dirty="0"/>
              <a:t> </a:t>
            </a:r>
            <a:r>
              <a:rPr sz="2200" spc="-20" dirty="0"/>
              <a:t>FBP</a:t>
            </a:r>
            <a:r>
              <a:rPr sz="2200" spc="-125" dirty="0"/>
              <a:t> </a:t>
            </a:r>
            <a:r>
              <a:rPr sz="2200" spc="-10" dirty="0"/>
              <a:t>reconstruction</a:t>
            </a:r>
            <a:endParaRPr sz="2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22987" y="1126737"/>
          <a:ext cx="7374255" cy="3042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62530"/>
                <a:gridCol w="2412999"/>
                <a:gridCol w="2413000"/>
              </a:tblGrid>
              <a:tr h="38036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Filter(Frequency</a:t>
                      </a:r>
                      <a:r>
                        <a:rPr sz="1100" b="1" spc="-6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scaling)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20" dirty="0">
                          <a:latin typeface="Times New Roman" panose="02020603050405020304"/>
                          <a:cs typeface="Times New Roman" panose="02020603050405020304"/>
                        </a:rPr>
                        <a:t>PSNR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20" dirty="0">
                          <a:latin typeface="Times New Roman" panose="02020603050405020304"/>
                          <a:cs typeface="Times New Roman" panose="02020603050405020304"/>
                        </a:rPr>
                        <a:t>SSIM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Hann_0.641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30.516</a:t>
                      </a:r>
                      <a:r>
                        <a:rPr sz="1100" b="1" spc="-5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Times New Roman" panose="02020603050405020304"/>
                          <a:cs typeface="Times New Roman" panose="02020603050405020304"/>
                        </a:rPr>
                        <a:t>+</a:t>
                      </a:r>
                      <a:r>
                        <a:rPr sz="1100" b="1" u="none" spc="-5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u="none" spc="-1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3.097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0.7372</a:t>
                      </a:r>
                      <a:r>
                        <a:rPr sz="1100" b="1" spc="-15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Times New Roman" panose="02020603050405020304"/>
                          <a:cs typeface="Times New Roman" panose="02020603050405020304"/>
                        </a:rPr>
                        <a:t>+</a:t>
                      </a:r>
                      <a:r>
                        <a:rPr sz="1100" b="1" u="none" spc="-5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u="none" spc="-1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0.1467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Hann_0.8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30.445</a:t>
                      </a:r>
                      <a:r>
                        <a:rPr sz="1100" b="1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/>
                          <a:cs typeface="Times New Roman" panose="02020603050405020304"/>
                        </a:rPr>
                        <a:t>+</a:t>
                      </a:r>
                      <a:r>
                        <a:rPr sz="1100" b="1" u="none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u="none" spc="-10" dirty="0">
                          <a:latin typeface="Times New Roman" panose="02020603050405020304"/>
                          <a:cs typeface="Times New Roman" panose="02020603050405020304"/>
                        </a:rPr>
                        <a:t>3.373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0.7088</a:t>
                      </a:r>
                      <a:r>
                        <a:rPr sz="1100" b="1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/>
                          <a:cs typeface="Times New Roman" panose="02020603050405020304"/>
                        </a:rPr>
                        <a:t>+</a:t>
                      </a:r>
                      <a:r>
                        <a:rPr sz="1100" b="1" u="none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u="none" spc="-10" dirty="0">
                          <a:latin typeface="Times New Roman" panose="02020603050405020304"/>
                          <a:cs typeface="Times New Roman" panose="02020603050405020304"/>
                        </a:rPr>
                        <a:t>0.1563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Hann_1.0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29.799</a:t>
                      </a:r>
                      <a:r>
                        <a:rPr sz="1100" b="1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/>
                          <a:cs typeface="Times New Roman" panose="02020603050405020304"/>
                        </a:rPr>
                        <a:t>+</a:t>
                      </a:r>
                      <a:r>
                        <a:rPr sz="1100" b="1" u="none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u="none" spc="-10" dirty="0">
                          <a:latin typeface="Times New Roman" panose="02020603050405020304"/>
                          <a:cs typeface="Times New Roman" panose="02020603050405020304"/>
                        </a:rPr>
                        <a:t>3.629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0.6626</a:t>
                      </a:r>
                      <a:r>
                        <a:rPr sz="1100" b="1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/>
                          <a:cs typeface="Times New Roman" panose="02020603050405020304"/>
                        </a:rPr>
                        <a:t>+</a:t>
                      </a:r>
                      <a:r>
                        <a:rPr sz="1100" b="1" u="none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u="none" spc="-10" dirty="0">
                          <a:latin typeface="Times New Roman" panose="02020603050405020304"/>
                          <a:cs typeface="Times New Roman" panose="02020603050405020304"/>
                        </a:rPr>
                        <a:t>0.1685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Hamming_1.0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29.507</a:t>
                      </a:r>
                      <a:r>
                        <a:rPr sz="1100" b="1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/>
                          <a:cs typeface="Times New Roman" panose="02020603050405020304"/>
                        </a:rPr>
                        <a:t>+</a:t>
                      </a:r>
                      <a:r>
                        <a:rPr sz="1100" b="1" u="none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u="none" spc="-10" dirty="0">
                          <a:latin typeface="Times New Roman" panose="02020603050405020304"/>
                          <a:cs typeface="Times New Roman" panose="02020603050405020304"/>
                        </a:rPr>
                        <a:t>3.681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0.6464</a:t>
                      </a:r>
                      <a:r>
                        <a:rPr sz="1100" b="1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/>
                          <a:cs typeface="Times New Roman" panose="02020603050405020304"/>
                        </a:rPr>
                        <a:t>+</a:t>
                      </a:r>
                      <a:r>
                        <a:rPr sz="1100" b="1" u="none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u="none" spc="-10" dirty="0">
                          <a:latin typeface="Times New Roman" panose="02020603050405020304"/>
                          <a:cs typeface="Times New Roman" panose="02020603050405020304"/>
                        </a:rPr>
                        <a:t>0.1714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Cosine_1.0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28.387</a:t>
                      </a:r>
                      <a:r>
                        <a:rPr sz="1100" b="1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/>
                          <a:cs typeface="Times New Roman" panose="02020603050405020304"/>
                        </a:rPr>
                        <a:t>+</a:t>
                      </a:r>
                      <a:r>
                        <a:rPr sz="1100" b="1" u="none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u="none" spc="-10" dirty="0">
                          <a:latin typeface="Times New Roman" panose="02020603050405020304"/>
                          <a:cs typeface="Times New Roman" panose="02020603050405020304"/>
                        </a:rPr>
                        <a:t>3.879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0.5904</a:t>
                      </a:r>
                      <a:r>
                        <a:rPr sz="1100" b="1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/>
                          <a:cs typeface="Times New Roman" panose="02020603050405020304"/>
                        </a:rPr>
                        <a:t>+</a:t>
                      </a:r>
                      <a:r>
                        <a:rPr sz="1100" b="1" u="none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u="none" spc="-20" dirty="0">
                          <a:latin typeface="Times New Roman" panose="02020603050405020304"/>
                          <a:cs typeface="Times New Roman" panose="02020603050405020304"/>
                        </a:rPr>
                        <a:t>1800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SheppLogan_1.0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25.494</a:t>
                      </a:r>
                      <a:r>
                        <a:rPr sz="1100" b="1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/>
                          <a:cs typeface="Times New Roman" panose="02020603050405020304"/>
                        </a:rPr>
                        <a:t>+</a:t>
                      </a:r>
                      <a:r>
                        <a:rPr sz="1100" b="1" u="none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u="none" spc="-10" dirty="0">
                          <a:latin typeface="Times New Roman" panose="02020603050405020304"/>
                          <a:cs typeface="Times New Roman" panose="02020603050405020304"/>
                        </a:rPr>
                        <a:t>4.078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0.4654</a:t>
                      </a:r>
                      <a:r>
                        <a:rPr sz="1100" b="1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/>
                          <a:cs typeface="Times New Roman" panose="02020603050405020304"/>
                        </a:rPr>
                        <a:t>+</a:t>
                      </a:r>
                      <a:r>
                        <a:rPr sz="1100" b="1" u="none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u="none" spc="-10" dirty="0">
                          <a:latin typeface="Times New Roman" panose="02020603050405020304"/>
                          <a:cs typeface="Times New Roman" panose="02020603050405020304"/>
                        </a:rPr>
                        <a:t>0.1782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RamLak_1.0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23.880</a:t>
                      </a:r>
                      <a:r>
                        <a:rPr sz="1100" b="1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/>
                          <a:cs typeface="Times New Roman" panose="02020603050405020304"/>
                        </a:rPr>
                        <a:t>+</a:t>
                      </a:r>
                      <a:r>
                        <a:rPr sz="1100" b="1" u="none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u="none" spc="-10" dirty="0">
                          <a:latin typeface="Times New Roman" panose="02020603050405020304"/>
                          <a:cs typeface="Times New Roman" panose="02020603050405020304"/>
                        </a:rPr>
                        <a:t>4.140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0.4029</a:t>
                      </a:r>
                      <a:r>
                        <a:rPr sz="1100" b="1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/>
                          <a:cs typeface="Times New Roman" panose="02020603050405020304"/>
                        </a:rPr>
                        <a:t>+</a:t>
                      </a:r>
                      <a:r>
                        <a:rPr sz="1100" b="1" u="none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u="none" spc="-10" dirty="0">
                          <a:latin typeface="Times New Roman" panose="02020603050405020304"/>
                          <a:cs typeface="Times New Roman" panose="02020603050405020304"/>
                        </a:rPr>
                        <a:t>0.1688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76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00"/>
              </a:spcBef>
            </a:pPr>
            <a:r>
              <a:rPr dirty="0"/>
              <a:t>Comparison</a:t>
            </a:r>
            <a:r>
              <a:rPr spc="-3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10" dirty="0"/>
              <a:t>Metrics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49820" y="1180285"/>
            <a:ext cx="7108858" cy="368899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7784" rIns="0" bIns="0" rtlCol="0">
            <a:spAutoFit/>
          </a:bodyPr>
          <a:lstStyle/>
          <a:p>
            <a:pPr marL="1781175">
              <a:lnSpc>
                <a:spcPct val="100000"/>
              </a:lnSpc>
              <a:spcBef>
                <a:spcPts val="120"/>
              </a:spcBef>
            </a:pPr>
            <a:r>
              <a:rPr sz="2050" dirty="0"/>
              <a:t>Best</a:t>
            </a:r>
            <a:r>
              <a:rPr sz="2050" spc="-20" dirty="0"/>
              <a:t> </a:t>
            </a:r>
            <a:r>
              <a:rPr sz="2050" dirty="0"/>
              <a:t>Mean</a:t>
            </a:r>
            <a:r>
              <a:rPr sz="2050" spc="-15" dirty="0"/>
              <a:t> </a:t>
            </a:r>
            <a:r>
              <a:rPr sz="2050" dirty="0"/>
              <a:t>Metrics</a:t>
            </a:r>
            <a:r>
              <a:rPr sz="2050" spc="-15" dirty="0"/>
              <a:t> </a:t>
            </a:r>
            <a:r>
              <a:rPr sz="2050" dirty="0"/>
              <a:t>for</a:t>
            </a:r>
            <a:r>
              <a:rPr sz="2050" spc="-45" dirty="0"/>
              <a:t> </a:t>
            </a:r>
            <a:r>
              <a:rPr sz="2050" spc="-10" dirty="0"/>
              <a:t>FBP(Hann_0.641)</a:t>
            </a:r>
            <a:endParaRPr sz="205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47737" y="1804987"/>
          <a:ext cx="7324725" cy="1582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3000"/>
                <a:gridCol w="2413000"/>
                <a:gridCol w="2413000"/>
              </a:tblGrid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25" dirty="0">
                          <a:latin typeface="Times New Roman" panose="02020603050405020304"/>
                          <a:cs typeface="Times New Roman" panose="02020603050405020304"/>
                        </a:rPr>
                        <a:t>Set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20" dirty="0">
                          <a:latin typeface="Times New Roman" panose="02020603050405020304"/>
                          <a:cs typeface="Times New Roman" panose="02020603050405020304"/>
                        </a:rPr>
                        <a:t>PSNR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20" dirty="0">
                          <a:latin typeface="Times New Roman" panose="02020603050405020304"/>
                          <a:cs typeface="Times New Roman" panose="02020603050405020304"/>
                        </a:rPr>
                        <a:t>SSIM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10" dirty="0">
                          <a:latin typeface="Times New Roman" panose="02020603050405020304"/>
                          <a:cs typeface="Times New Roman" panose="02020603050405020304"/>
                        </a:rPr>
                        <a:t>Train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dirty="0">
                          <a:latin typeface="Times New Roman" panose="02020603050405020304"/>
                          <a:cs typeface="Times New Roman" panose="02020603050405020304"/>
                        </a:rPr>
                        <a:t>30.452</a:t>
                      </a:r>
                      <a:r>
                        <a:rPr sz="1400" b="1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400" b="1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/>
                          <a:cs typeface="Times New Roman" panose="02020603050405020304"/>
                        </a:rPr>
                        <a:t>+</a:t>
                      </a:r>
                      <a:r>
                        <a:rPr sz="1400" b="1" u="none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400" b="1" u="none" spc="-20" dirty="0">
                          <a:latin typeface="Times New Roman" panose="02020603050405020304"/>
                          <a:cs typeface="Times New Roman" panose="02020603050405020304"/>
                        </a:rPr>
                        <a:t>2.654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dirty="0">
                          <a:latin typeface="Times New Roman" panose="02020603050405020304"/>
                          <a:cs typeface="Times New Roman" panose="02020603050405020304"/>
                        </a:rPr>
                        <a:t>0.7415</a:t>
                      </a:r>
                      <a:r>
                        <a:rPr sz="1400" b="1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400" b="1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/>
                          <a:cs typeface="Times New Roman" panose="02020603050405020304"/>
                        </a:rPr>
                        <a:t>+</a:t>
                      </a:r>
                      <a:r>
                        <a:rPr sz="1400" b="1" u="none" spc="-10" dirty="0">
                          <a:latin typeface="Times New Roman" panose="02020603050405020304"/>
                          <a:cs typeface="Times New Roman" panose="02020603050405020304"/>
                        </a:rPr>
                        <a:t> 0.1314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10" dirty="0">
                          <a:latin typeface="Times New Roman" panose="02020603050405020304"/>
                          <a:cs typeface="Times New Roman" panose="02020603050405020304"/>
                        </a:rPr>
                        <a:t>Validation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dirty="0">
                          <a:latin typeface="Times New Roman" panose="02020603050405020304"/>
                          <a:cs typeface="Times New Roman" panose="02020603050405020304"/>
                        </a:rPr>
                        <a:t>30.752</a:t>
                      </a:r>
                      <a:r>
                        <a:rPr sz="1400" b="1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400" b="1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/>
                          <a:cs typeface="Times New Roman" panose="02020603050405020304"/>
                        </a:rPr>
                        <a:t>+</a:t>
                      </a:r>
                      <a:r>
                        <a:rPr sz="1400" b="1" u="none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400" b="1" u="none" spc="-20" dirty="0">
                          <a:latin typeface="Times New Roman" panose="02020603050405020304"/>
                          <a:cs typeface="Times New Roman" panose="02020603050405020304"/>
                        </a:rPr>
                        <a:t>2.518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dirty="0">
                          <a:latin typeface="Times New Roman" panose="02020603050405020304"/>
                          <a:cs typeface="Times New Roman" panose="02020603050405020304"/>
                        </a:rPr>
                        <a:t>0.7577</a:t>
                      </a:r>
                      <a:r>
                        <a:rPr sz="1400" b="1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400" b="1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/>
                          <a:cs typeface="Times New Roman" panose="02020603050405020304"/>
                        </a:rPr>
                        <a:t>+</a:t>
                      </a:r>
                      <a:r>
                        <a:rPr sz="1400" b="1" u="none" spc="-10" dirty="0">
                          <a:latin typeface="Times New Roman" panose="02020603050405020304"/>
                          <a:cs typeface="Times New Roman" panose="02020603050405020304"/>
                        </a:rPr>
                        <a:t> 0.1231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20" dirty="0">
                          <a:latin typeface="Times New Roman" panose="02020603050405020304"/>
                          <a:cs typeface="Times New Roman" panose="02020603050405020304"/>
                        </a:rPr>
                        <a:t>Test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dirty="0">
                          <a:latin typeface="Times New Roman" panose="02020603050405020304"/>
                          <a:cs typeface="Times New Roman" panose="02020603050405020304"/>
                        </a:rPr>
                        <a:t>30.516</a:t>
                      </a:r>
                      <a:r>
                        <a:rPr sz="1400" b="1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400" b="1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/>
                          <a:cs typeface="Times New Roman" panose="02020603050405020304"/>
                        </a:rPr>
                        <a:t>+</a:t>
                      </a:r>
                      <a:r>
                        <a:rPr sz="1400" b="1" u="none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400" b="1" u="none" spc="-20" dirty="0">
                          <a:latin typeface="Times New Roman" panose="02020603050405020304"/>
                          <a:cs typeface="Times New Roman" panose="02020603050405020304"/>
                        </a:rPr>
                        <a:t>3.097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dirty="0">
                          <a:latin typeface="Times New Roman" panose="02020603050405020304"/>
                          <a:cs typeface="Times New Roman" panose="02020603050405020304"/>
                        </a:rPr>
                        <a:t>0.7372</a:t>
                      </a:r>
                      <a:r>
                        <a:rPr sz="1400" b="1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400" b="1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/>
                          <a:cs typeface="Times New Roman" panose="02020603050405020304"/>
                        </a:rPr>
                        <a:t>+</a:t>
                      </a:r>
                      <a:r>
                        <a:rPr sz="1400" b="1" u="none" spc="-10" dirty="0">
                          <a:latin typeface="Times New Roman" panose="02020603050405020304"/>
                          <a:cs typeface="Times New Roman" panose="02020603050405020304"/>
                        </a:rPr>
                        <a:t> 0.1467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8833882" y="4752885"/>
            <a:ext cx="11430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5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6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5400" y="159463"/>
            <a:ext cx="7592059" cy="286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dirty="0"/>
              <a:t>Preprocessing</a:t>
            </a:r>
            <a:r>
              <a:rPr sz="1700" spc="-30" dirty="0"/>
              <a:t> </a:t>
            </a:r>
            <a:r>
              <a:rPr sz="1700" dirty="0"/>
              <a:t>with</a:t>
            </a:r>
            <a:r>
              <a:rPr sz="1700" spc="-30" dirty="0"/>
              <a:t> </a:t>
            </a:r>
            <a:r>
              <a:rPr sz="1700" dirty="0"/>
              <a:t>Different</a:t>
            </a:r>
            <a:r>
              <a:rPr sz="1700" spc="-30" dirty="0"/>
              <a:t> </a:t>
            </a:r>
            <a:r>
              <a:rPr sz="1700" dirty="0"/>
              <a:t>Filters</a:t>
            </a:r>
            <a:r>
              <a:rPr sz="1700" spc="-25" dirty="0"/>
              <a:t> </a:t>
            </a:r>
            <a:r>
              <a:rPr sz="1700" dirty="0"/>
              <a:t>in</a:t>
            </a:r>
            <a:r>
              <a:rPr sz="1700" spc="-30" dirty="0"/>
              <a:t> </a:t>
            </a:r>
            <a:r>
              <a:rPr sz="1700" dirty="0"/>
              <a:t>Sinogram</a:t>
            </a:r>
            <a:r>
              <a:rPr sz="1700" spc="-30" dirty="0"/>
              <a:t> </a:t>
            </a:r>
            <a:r>
              <a:rPr sz="1700" dirty="0"/>
              <a:t>Domain</a:t>
            </a:r>
            <a:r>
              <a:rPr sz="1700" spc="-30" dirty="0"/>
              <a:t> </a:t>
            </a:r>
            <a:r>
              <a:rPr sz="1700" spc="-20" dirty="0"/>
              <a:t>(Test</a:t>
            </a:r>
            <a:r>
              <a:rPr sz="1700" spc="-25" dirty="0"/>
              <a:t> </a:t>
            </a:r>
            <a:r>
              <a:rPr sz="1700" dirty="0"/>
              <a:t>Set</a:t>
            </a:r>
            <a:r>
              <a:rPr sz="1700" spc="-30" dirty="0"/>
              <a:t> </a:t>
            </a:r>
            <a:r>
              <a:rPr sz="1700" dirty="0"/>
              <a:t>Mean</a:t>
            </a:r>
            <a:r>
              <a:rPr sz="1700" spc="-15" dirty="0"/>
              <a:t> </a:t>
            </a:r>
            <a:r>
              <a:rPr sz="1700" spc="-10" dirty="0"/>
              <a:t>Metrics)</a:t>
            </a:r>
            <a:endParaRPr sz="17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92562" y="663062"/>
          <a:ext cx="8435340" cy="4252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1410"/>
                <a:gridCol w="1330960"/>
                <a:gridCol w="1294130"/>
                <a:gridCol w="1255395"/>
                <a:gridCol w="1294129"/>
                <a:gridCol w="2052320"/>
              </a:tblGrid>
              <a:tr h="46355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Filter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PSNR</a:t>
                      </a:r>
                      <a:r>
                        <a:rPr sz="1100" b="1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spc="-20" dirty="0">
                          <a:latin typeface="Times New Roman" panose="02020603050405020304"/>
                          <a:cs typeface="Times New Roman" panose="02020603050405020304"/>
                        </a:rPr>
                        <a:t>(db)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20" dirty="0">
                          <a:latin typeface="Times New Roman" panose="02020603050405020304"/>
                          <a:cs typeface="Times New Roman" panose="02020603050405020304"/>
                        </a:rPr>
                        <a:t>SSIM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PSNR(loss/gain)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SSIM(loss/gain)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Best </a:t>
                      </a: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Parameters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</a:tr>
              <a:tr h="34988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Median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30.371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0.742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-</a:t>
                      </a: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0.145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0.004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kernel</a:t>
                      </a:r>
                      <a:r>
                        <a:rPr sz="1100" b="1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Size:</a:t>
                      </a: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spc="-50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73596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Bilateral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30.237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0.745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-</a:t>
                      </a: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0.279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0.007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d: </a:t>
                      </a:r>
                      <a:r>
                        <a:rPr sz="1100" b="1" spc="-50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sigma_color: </a:t>
                      </a:r>
                      <a:r>
                        <a:rPr sz="1100" b="1" spc="-20" dirty="0">
                          <a:latin typeface="Times New Roman" panose="02020603050405020304"/>
                          <a:cs typeface="Times New Roman" panose="02020603050405020304"/>
                        </a:rPr>
                        <a:t>0.01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sigma_spatial: </a:t>
                      </a:r>
                      <a:r>
                        <a:rPr sz="1100" b="1" spc="-20" dirty="0">
                          <a:latin typeface="Times New Roman" panose="02020603050405020304"/>
                          <a:cs typeface="Times New Roman" panose="02020603050405020304"/>
                        </a:rPr>
                        <a:t>10.0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73596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Gaussian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30.516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0.737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50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-</a:t>
                      </a: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0.0002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sigma: </a:t>
                      </a:r>
                      <a:r>
                        <a:rPr sz="1100" b="1" spc="-25" dirty="0">
                          <a:latin typeface="Times New Roman" panose="02020603050405020304"/>
                          <a:cs typeface="Times New Roman" panose="02020603050405020304"/>
                        </a:rPr>
                        <a:t>0.1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truncate: </a:t>
                      </a: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3.417201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filter</a:t>
                      </a:r>
                      <a:r>
                        <a:rPr sz="1100" b="1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Size:</a:t>
                      </a: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spc="-50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marL="85725" marR="46101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Wavelet denoising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30.527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2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0.74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0.011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0.0028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787400">
                        <a:lnSpc>
                          <a:spcPct val="115000"/>
                        </a:lnSpc>
                        <a:spcBef>
                          <a:spcPts val="4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sigma_scale: </a:t>
                      </a: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1.1795 </a:t>
                      </a: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wavelet: </a:t>
                      </a: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bior1.3 </a:t>
                      </a: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mode: </a:t>
                      </a:r>
                      <a:r>
                        <a:rPr sz="1100" b="1" spc="-20" dirty="0">
                          <a:latin typeface="Times New Roman" panose="02020603050405020304"/>
                          <a:cs typeface="Times New Roman" panose="02020603050405020304"/>
                        </a:rPr>
                        <a:t>soft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46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TV</a:t>
                      </a:r>
                      <a:r>
                        <a:rPr sz="1100" b="1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denoising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29.966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0.736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-</a:t>
                      </a:r>
                      <a:r>
                        <a:rPr sz="1100" b="1" spc="-20" dirty="0">
                          <a:latin typeface="Times New Roman" panose="02020603050405020304"/>
                          <a:cs typeface="Times New Roman" panose="02020603050405020304"/>
                        </a:rPr>
                        <a:t>0.55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-</a:t>
                      </a: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0.0012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TV</a:t>
                      </a:r>
                      <a:r>
                        <a:rPr sz="1100" b="1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weight:</a:t>
                      </a:r>
                      <a:r>
                        <a:rPr sz="1100" b="1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0.0010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685165">
                <a:tc>
                  <a:txBody>
                    <a:bodyPr/>
                    <a:lstStyle/>
                    <a:p>
                      <a:pPr marL="85725" marR="41148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Non</a:t>
                      </a:r>
                      <a:r>
                        <a:rPr sz="1100" b="1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Local Means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30.516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0.737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50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-</a:t>
                      </a: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0.0002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46736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h</a:t>
                      </a:r>
                      <a:r>
                        <a:rPr sz="1100" b="1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(filter</a:t>
                      </a:r>
                      <a:r>
                        <a:rPr sz="1100" b="1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strength):</a:t>
                      </a:r>
                      <a:r>
                        <a:rPr sz="1100" b="1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0.0741 </a:t>
                      </a: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patch</a:t>
                      </a:r>
                      <a:r>
                        <a:rPr sz="1100" b="1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size:</a:t>
                      </a: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spc="-50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Search</a:t>
                      </a:r>
                      <a:r>
                        <a:rPr sz="1100" b="1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window:</a:t>
                      </a:r>
                      <a:r>
                        <a:rPr sz="1100" b="1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spc="-25" dirty="0">
                          <a:latin typeface="Times New Roman" panose="02020603050405020304"/>
                          <a:cs typeface="Times New Roman" panose="02020603050405020304"/>
                        </a:rPr>
                        <a:t>21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9220">
              <a:lnSpc>
                <a:spcPts val="1300"/>
              </a:lnSpc>
            </a:pPr>
            <a:fld id="{81D60167-4931-47E6-BA6A-407CBD079E47}" type="slidenum">
              <a:rPr sz="1100" b="1" spc="-50" dirty="0">
                <a:latin typeface="Times New Roman" panose="02020603050405020304"/>
                <a:cs typeface="Times New Roman" panose="02020603050405020304"/>
              </a:rPr>
            </a:fld>
            <a:endParaRPr sz="11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0350" y="159463"/>
            <a:ext cx="7406640" cy="286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dirty="0"/>
              <a:t>Post</a:t>
            </a:r>
            <a:r>
              <a:rPr sz="1700" spc="-25" dirty="0"/>
              <a:t> </a:t>
            </a:r>
            <a:r>
              <a:rPr sz="1700" dirty="0"/>
              <a:t>Processing</a:t>
            </a:r>
            <a:r>
              <a:rPr sz="1700" spc="-25" dirty="0"/>
              <a:t> </a:t>
            </a:r>
            <a:r>
              <a:rPr sz="1700" dirty="0"/>
              <a:t>with</a:t>
            </a:r>
            <a:r>
              <a:rPr sz="1700" spc="-25" dirty="0"/>
              <a:t> </a:t>
            </a:r>
            <a:r>
              <a:rPr sz="1700" dirty="0"/>
              <a:t>Different</a:t>
            </a:r>
            <a:r>
              <a:rPr sz="1700" spc="-25" dirty="0"/>
              <a:t> </a:t>
            </a:r>
            <a:r>
              <a:rPr sz="1700" dirty="0"/>
              <a:t>Filters</a:t>
            </a:r>
            <a:r>
              <a:rPr sz="1700" spc="-20" dirty="0"/>
              <a:t> </a:t>
            </a:r>
            <a:r>
              <a:rPr sz="1700" dirty="0"/>
              <a:t>in</a:t>
            </a:r>
            <a:r>
              <a:rPr sz="1700" spc="-25" dirty="0"/>
              <a:t> </a:t>
            </a:r>
            <a:r>
              <a:rPr sz="1700" dirty="0"/>
              <a:t>Image</a:t>
            </a:r>
            <a:r>
              <a:rPr sz="1700" spc="-25" dirty="0"/>
              <a:t> </a:t>
            </a:r>
            <a:r>
              <a:rPr sz="1700" dirty="0"/>
              <a:t>Domain</a:t>
            </a:r>
            <a:r>
              <a:rPr sz="1700" spc="-25" dirty="0"/>
              <a:t> </a:t>
            </a:r>
            <a:r>
              <a:rPr sz="1700" spc="-20" dirty="0"/>
              <a:t>(Test </a:t>
            </a:r>
            <a:r>
              <a:rPr sz="1700" dirty="0"/>
              <a:t>Set</a:t>
            </a:r>
            <a:r>
              <a:rPr sz="1700" spc="-25" dirty="0"/>
              <a:t> </a:t>
            </a:r>
            <a:r>
              <a:rPr sz="1700" dirty="0"/>
              <a:t>Mean</a:t>
            </a:r>
            <a:r>
              <a:rPr sz="1700" spc="-25" dirty="0"/>
              <a:t> </a:t>
            </a:r>
            <a:r>
              <a:rPr sz="1700" spc="-10" dirty="0"/>
              <a:t>Metrics)</a:t>
            </a:r>
            <a:endParaRPr sz="17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92562" y="663062"/>
          <a:ext cx="8435340" cy="4252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1410"/>
                <a:gridCol w="1330960"/>
                <a:gridCol w="1294130"/>
                <a:gridCol w="1255395"/>
                <a:gridCol w="1294129"/>
                <a:gridCol w="2052320"/>
              </a:tblGrid>
              <a:tr h="46355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Filter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PSNR</a:t>
                      </a:r>
                      <a:r>
                        <a:rPr sz="1100" b="1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spc="-20" dirty="0">
                          <a:latin typeface="Times New Roman" panose="02020603050405020304"/>
                          <a:cs typeface="Times New Roman" panose="02020603050405020304"/>
                        </a:rPr>
                        <a:t>(db)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20" dirty="0">
                          <a:latin typeface="Times New Roman" panose="02020603050405020304"/>
                          <a:cs typeface="Times New Roman" panose="02020603050405020304"/>
                        </a:rPr>
                        <a:t>SSIM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PSNR(loss/gain)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SSIM(loss/gain)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Best </a:t>
                      </a: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Parameters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</a:tr>
              <a:tr h="34988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Median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30.702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0.753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0.186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0.0158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kernel</a:t>
                      </a:r>
                      <a:r>
                        <a:rPr sz="1100" b="1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Size:</a:t>
                      </a: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spc="-50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73596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Bilateral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31.007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0.755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0.491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0.0178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d: </a:t>
                      </a:r>
                      <a:r>
                        <a:rPr sz="1100" b="1" spc="-50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sigma_color</a:t>
                      </a:r>
                      <a:r>
                        <a:rPr sz="1100" b="1" spc="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:</a:t>
                      </a:r>
                      <a:r>
                        <a:rPr sz="1100" b="1" spc="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0.03329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sigma_spatial: </a:t>
                      </a:r>
                      <a:r>
                        <a:rPr sz="1100" b="1" spc="-20" dirty="0">
                          <a:latin typeface="Times New Roman" panose="02020603050405020304"/>
                          <a:cs typeface="Times New Roman" panose="02020603050405020304"/>
                        </a:rPr>
                        <a:t>10.0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73596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Gaussian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30.504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0.742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-</a:t>
                      </a: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0.0012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0.0048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sigma: </a:t>
                      </a: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0.563682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truncate:</a:t>
                      </a:r>
                      <a:r>
                        <a:rPr sz="1100" b="1" spc="27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4.522496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filter</a:t>
                      </a:r>
                      <a:r>
                        <a:rPr sz="1100" b="1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Size:</a:t>
                      </a: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spc="-50" dirty="0">
                          <a:latin typeface="Times New Roman" panose="02020603050405020304"/>
                          <a:cs typeface="Times New Roman" panose="02020603050405020304"/>
                        </a:rPr>
                        <a:t>7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marL="85725" marR="46101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Wavelet denoising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30.543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0.739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0.027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0.0018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996950">
                        <a:lnSpc>
                          <a:spcPct val="115000"/>
                        </a:lnSpc>
                        <a:spcBef>
                          <a:spcPts val="4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sigma_scale: </a:t>
                      </a:r>
                      <a:r>
                        <a:rPr sz="1100" b="1" spc="-25" dirty="0">
                          <a:latin typeface="Times New Roman" panose="02020603050405020304"/>
                          <a:cs typeface="Times New Roman" panose="02020603050405020304"/>
                        </a:rPr>
                        <a:t>3.0 </a:t>
                      </a: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wavelet: </a:t>
                      </a: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coif1 </a:t>
                      </a: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mode: </a:t>
                      </a:r>
                      <a:r>
                        <a:rPr sz="1100" b="1" spc="-20" dirty="0">
                          <a:latin typeface="Times New Roman" panose="02020603050405020304"/>
                          <a:cs typeface="Times New Roman" panose="02020603050405020304"/>
                        </a:rPr>
                        <a:t>soft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46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TV</a:t>
                      </a:r>
                      <a:r>
                        <a:rPr sz="1100" b="1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denoising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30.761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0.758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0.245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0.0208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TV</a:t>
                      </a:r>
                      <a:r>
                        <a:rPr sz="1100" b="1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weight:</a:t>
                      </a:r>
                      <a:r>
                        <a:rPr sz="1100" b="1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0.0113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685165">
                <a:tc>
                  <a:txBody>
                    <a:bodyPr/>
                    <a:lstStyle/>
                    <a:p>
                      <a:pPr marL="85725" marR="41148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Non</a:t>
                      </a:r>
                      <a:r>
                        <a:rPr sz="1100" b="1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Local Means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30.516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0.737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50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-</a:t>
                      </a: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0.0002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67691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h</a:t>
                      </a:r>
                      <a:r>
                        <a:rPr sz="1100" b="1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(filter</a:t>
                      </a:r>
                      <a:r>
                        <a:rPr sz="1100" b="1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strength):</a:t>
                      </a:r>
                      <a:r>
                        <a:rPr sz="1100" b="1" spc="-25" dirty="0">
                          <a:latin typeface="Times New Roman" panose="02020603050405020304"/>
                          <a:cs typeface="Times New Roman" panose="02020603050405020304"/>
                        </a:rPr>
                        <a:t> 0.5 </a:t>
                      </a: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patch</a:t>
                      </a:r>
                      <a:r>
                        <a:rPr sz="1100" b="1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size:</a:t>
                      </a: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spc="-50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Search</a:t>
                      </a:r>
                      <a:r>
                        <a:rPr sz="1100" b="1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dirty="0">
                          <a:latin typeface="Times New Roman" panose="02020603050405020304"/>
                          <a:cs typeface="Times New Roman" panose="02020603050405020304"/>
                        </a:rPr>
                        <a:t>window:</a:t>
                      </a:r>
                      <a:r>
                        <a:rPr sz="1100" b="1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spc="-25" dirty="0">
                          <a:latin typeface="Times New Roman" panose="02020603050405020304"/>
                          <a:cs typeface="Times New Roman" panose="02020603050405020304"/>
                        </a:rPr>
                        <a:t>21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9220">
              <a:lnSpc>
                <a:spcPts val="1300"/>
              </a:lnSpc>
            </a:pPr>
            <a:fld id="{81D60167-4931-47E6-BA6A-407CBD079E47}" type="slidenum">
              <a:rPr sz="1100" b="1" spc="-50" dirty="0">
                <a:latin typeface="Times New Roman" panose="02020603050405020304"/>
                <a:cs typeface="Times New Roman" panose="02020603050405020304"/>
              </a:rPr>
            </a:fld>
            <a:endParaRPr sz="11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1075" y="214989"/>
            <a:ext cx="5531485" cy="3790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0" dirty="0">
                <a:latin typeface="Times New Roman" panose="02020603050405020304"/>
                <a:cs typeface="Times New Roman" panose="02020603050405020304"/>
              </a:rPr>
              <a:t>Why</a:t>
            </a:r>
            <a:r>
              <a:rPr b="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CT</a:t>
            </a:r>
            <a:r>
              <a:rPr b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Reconstruction is</a:t>
            </a:r>
            <a:r>
              <a:rPr b="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an Inverse</a:t>
            </a:r>
            <a:r>
              <a:rPr b="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10" dirty="0">
                <a:latin typeface="Times New Roman" panose="02020603050405020304"/>
                <a:cs typeface="Times New Roman" panose="02020603050405020304"/>
              </a:rPr>
              <a:t>Problem</a:t>
            </a:r>
            <a:endParaRPr b="0"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764854"/>
            <a:ext cx="5951220" cy="500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353560" algn="l"/>
              </a:tabLst>
            </a:pPr>
            <a:r>
              <a:rPr sz="1150" b="1" dirty="0">
                <a:latin typeface="Times New Roman" panose="02020603050405020304"/>
                <a:cs typeface="Times New Roman" panose="02020603050405020304"/>
              </a:rPr>
              <a:t>Equations</a:t>
            </a:r>
            <a:r>
              <a:rPr sz="1150" b="1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b="1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1150" b="1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b="1" spc="-10" dirty="0">
                <a:latin typeface="Times New Roman" panose="02020603050405020304"/>
                <a:cs typeface="Times New Roman" panose="02020603050405020304"/>
              </a:rPr>
              <a:t>Explanation:</a:t>
            </a:r>
            <a:r>
              <a:rPr sz="115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50" b="1" baseline="3000" dirty="0">
                <a:latin typeface="Times New Roman" panose="02020603050405020304"/>
                <a:cs typeface="Times New Roman" panose="02020603050405020304"/>
              </a:rPr>
              <a:t>Why</a:t>
            </a:r>
            <a:r>
              <a:rPr sz="1650" b="1" spc="-52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b="1" baseline="3000" dirty="0">
                <a:latin typeface="Times New Roman" panose="02020603050405020304"/>
                <a:cs typeface="Times New Roman" panose="02020603050405020304"/>
              </a:rPr>
              <a:t>direct</a:t>
            </a:r>
            <a:r>
              <a:rPr sz="1650" b="1" spc="-52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b="1" baseline="3000" dirty="0">
                <a:latin typeface="Times New Roman" panose="02020603050405020304"/>
                <a:cs typeface="Times New Roman" panose="02020603050405020304"/>
              </a:rPr>
              <a:t>inversion</a:t>
            </a:r>
            <a:r>
              <a:rPr sz="1650" b="1" spc="-52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b="1" spc="-15" baseline="3000" dirty="0">
                <a:latin typeface="Times New Roman" panose="02020603050405020304"/>
                <a:cs typeface="Times New Roman" panose="02020603050405020304"/>
              </a:rPr>
              <a:t>fails:</a:t>
            </a:r>
            <a:endParaRPr sz="1650" baseline="3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150" spc="-10" dirty="0">
                <a:latin typeface="Times New Roman" panose="02020603050405020304"/>
                <a:cs typeface="Times New Roman" panose="02020603050405020304"/>
              </a:rPr>
              <a:t>y=Ax+ε</a:t>
            </a:r>
            <a:endParaRPr sz="11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9005" y="1356166"/>
            <a:ext cx="2812415" cy="1091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25120" indent="-312420">
              <a:lnSpc>
                <a:spcPct val="100000"/>
              </a:lnSpc>
              <a:spcBef>
                <a:spcPts val="125"/>
              </a:spcBef>
              <a:buSzPct val="96000"/>
              <a:buFont typeface="Arial" panose="020B0604020202020204"/>
              <a:buChar char="●"/>
              <a:tabLst>
                <a:tab pos="325120" algn="l"/>
              </a:tabLst>
            </a:pPr>
            <a:r>
              <a:rPr sz="1150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115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dirty="0"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15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dirty="0">
                <a:latin typeface="Times New Roman" panose="02020603050405020304"/>
                <a:cs typeface="Times New Roman" panose="02020603050405020304"/>
              </a:rPr>
              <a:t>unknown</a:t>
            </a:r>
            <a:r>
              <a:rPr sz="115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dirty="0">
                <a:latin typeface="Times New Roman" panose="02020603050405020304"/>
                <a:cs typeface="Times New Roman" panose="02020603050405020304"/>
              </a:rPr>
              <a:t>image</a:t>
            </a:r>
            <a:r>
              <a:rPr sz="115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dirty="0">
                <a:latin typeface="Times New Roman" panose="02020603050405020304"/>
                <a:cs typeface="Times New Roman" panose="02020603050405020304"/>
              </a:rPr>
              <a:t>(slice</a:t>
            </a:r>
            <a:r>
              <a:rPr sz="115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15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spc="-10" dirty="0">
                <a:latin typeface="Times New Roman" panose="02020603050405020304"/>
                <a:cs typeface="Times New Roman" panose="02020603050405020304"/>
              </a:rPr>
              <a:t>body)</a:t>
            </a: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325120" indent="-312420">
              <a:lnSpc>
                <a:spcPct val="100000"/>
              </a:lnSpc>
              <a:spcBef>
                <a:spcPts val="945"/>
              </a:spcBef>
              <a:buSzPct val="96000"/>
              <a:buFont typeface="Arial" panose="020B0604020202020204"/>
              <a:buChar char="●"/>
              <a:tabLst>
                <a:tab pos="325120" algn="l"/>
              </a:tabLst>
            </a:pPr>
            <a:r>
              <a:rPr sz="115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1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dirty="0"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15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dirty="0">
                <a:latin typeface="Times New Roman" panose="02020603050405020304"/>
                <a:cs typeface="Times New Roman" panose="02020603050405020304"/>
              </a:rPr>
              <a:t>forward</a:t>
            </a:r>
            <a:r>
              <a:rPr sz="115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dirty="0">
                <a:latin typeface="Times New Roman" panose="02020603050405020304"/>
                <a:cs typeface="Times New Roman" panose="02020603050405020304"/>
              </a:rPr>
              <a:t>operator</a:t>
            </a:r>
            <a:r>
              <a:rPr sz="115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dirty="0">
                <a:latin typeface="Times New Roman" panose="02020603050405020304"/>
                <a:cs typeface="Times New Roman" panose="02020603050405020304"/>
              </a:rPr>
              <a:t>(Radon</a:t>
            </a:r>
            <a:r>
              <a:rPr sz="115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spc="-10" dirty="0">
                <a:latin typeface="Times New Roman" panose="02020603050405020304"/>
                <a:cs typeface="Times New Roman" panose="02020603050405020304"/>
              </a:rPr>
              <a:t>transform)</a:t>
            </a: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325120" indent="-312420">
              <a:lnSpc>
                <a:spcPct val="100000"/>
              </a:lnSpc>
              <a:spcBef>
                <a:spcPts val="950"/>
              </a:spcBef>
              <a:buSzPct val="96000"/>
              <a:buFont typeface="Arial" panose="020B0604020202020204"/>
              <a:buChar char="●"/>
              <a:tabLst>
                <a:tab pos="325120" algn="l"/>
              </a:tabLst>
            </a:pPr>
            <a:r>
              <a:rPr sz="115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115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dirty="0"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15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dirty="0">
                <a:latin typeface="Times New Roman" panose="02020603050405020304"/>
                <a:cs typeface="Times New Roman" panose="02020603050405020304"/>
              </a:rPr>
              <a:t>measured</a:t>
            </a:r>
            <a:r>
              <a:rPr sz="115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dirty="0">
                <a:latin typeface="Times New Roman" panose="02020603050405020304"/>
                <a:cs typeface="Times New Roman" panose="02020603050405020304"/>
              </a:rPr>
              <a:t>projections</a:t>
            </a:r>
            <a:r>
              <a:rPr sz="115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spc="-10" dirty="0">
                <a:latin typeface="Times New Roman" panose="02020603050405020304"/>
                <a:cs typeface="Times New Roman" panose="02020603050405020304"/>
              </a:rPr>
              <a:t>(sinogram)</a:t>
            </a: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325120" indent="-312420">
              <a:lnSpc>
                <a:spcPct val="100000"/>
              </a:lnSpc>
              <a:spcBef>
                <a:spcPts val="945"/>
              </a:spcBef>
              <a:buSzPct val="96000"/>
              <a:buFont typeface="Arial" panose="020B0604020202020204"/>
              <a:buChar char="●"/>
              <a:tabLst>
                <a:tab pos="325120" algn="l"/>
              </a:tabLst>
            </a:pPr>
            <a:r>
              <a:rPr sz="1150" dirty="0">
                <a:latin typeface="Times New Roman" panose="02020603050405020304"/>
                <a:cs typeface="Times New Roman" panose="02020603050405020304"/>
              </a:rPr>
              <a:t>ε→</a:t>
            </a:r>
            <a:r>
              <a:rPr sz="115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dirty="0">
                <a:latin typeface="Times New Roman" panose="02020603050405020304"/>
                <a:cs typeface="Times New Roman" panose="02020603050405020304"/>
              </a:rPr>
              <a:t>noise</a:t>
            </a:r>
            <a:r>
              <a:rPr sz="115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spc="-10" dirty="0">
                <a:latin typeface="Times New Roman" panose="02020603050405020304"/>
                <a:cs typeface="Times New Roman" panose="02020603050405020304"/>
              </a:rPr>
              <a:t>(Poisson)</a:t>
            </a:r>
            <a:endParaRPr sz="11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2538790"/>
            <a:ext cx="7853045" cy="20910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b="1" dirty="0">
                <a:latin typeface="Times New Roman" panose="02020603050405020304"/>
                <a:cs typeface="Times New Roman" panose="02020603050405020304"/>
              </a:rPr>
              <a:t>Forward</a:t>
            </a:r>
            <a:r>
              <a:rPr sz="1150" b="1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b="1" dirty="0">
                <a:latin typeface="Times New Roman" panose="02020603050405020304"/>
                <a:cs typeface="Times New Roman" panose="02020603050405020304"/>
              </a:rPr>
              <a:t>Operator</a:t>
            </a:r>
            <a:r>
              <a:rPr sz="115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b="1" dirty="0">
                <a:latin typeface="Times New Roman" panose="02020603050405020304"/>
                <a:cs typeface="Times New Roman" panose="02020603050405020304"/>
              </a:rPr>
              <a:t>(Radon</a:t>
            </a:r>
            <a:r>
              <a:rPr sz="115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b="1" spc="-10" dirty="0">
                <a:latin typeface="Times New Roman" panose="02020603050405020304"/>
                <a:cs typeface="Times New Roman" panose="02020603050405020304"/>
              </a:rPr>
              <a:t>Transform):</a:t>
            </a: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150" dirty="0">
                <a:latin typeface="Times New Roman" panose="02020603050405020304"/>
                <a:cs typeface="Times New Roman" panose="02020603050405020304"/>
              </a:rPr>
              <a:t>(Ax)(θ,</a:t>
            </a:r>
            <a:r>
              <a:rPr sz="115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dirty="0">
                <a:latin typeface="Times New Roman" panose="02020603050405020304"/>
                <a:cs typeface="Times New Roman" panose="02020603050405020304"/>
              </a:rPr>
              <a:t>t)</a:t>
            </a:r>
            <a:r>
              <a:rPr sz="115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15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dirty="0">
                <a:latin typeface="Times New Roman" panose="02020603050405020304"/>
                <a:cs typeface="Times New Roman" panose="02020603050405020304"/>
              </a:rPr>
              <a:t>∫_L(θ,t)</a:t>
            </a:r>
            <a:r>
              <a:rPr sz="115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dirty="0">
                <a:latin typeface="Times New Roman" panose="02020603050405020304"/>
                <a:cs typeface="Times New Roman" panose="02020603050405020304"/>
              </a:rPr>
              <a:t>x(s)</a:t>
            </a:r>
            <a:r>
              <a:rPr sz="115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spc="-25" dirty="0">
                <a:latin typeface="Times New Roman" panose="02020603050405020304"/>
                <a:cs typeface="Times New Roman" panose="02020603050405020304"/>
              </a:rPr>
              <a:t>ds</a:t>
            </a: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469265" indent="-318135">
              <a:lnSpc>
                <a:spcPct val="100000"/>
              </a:lnSpc>
              <a:spcBef>
                <a:spcPts val="950"/>
              </a:spcBef>
              <a:buFont typeface="Arial" panose="020B0604020202020204"/>
              <a:buChar char="●"/>
              <a:tabLst>
                <a:tab pos="469265" algn="l"/>
              </a:tabLst>
            </a:pPr>
            <a:r>
              <a:rPr sz="1150" dirty="0">
                <a:latin typeface="Times New Roman" panose="02020603050405020304"/>
                <a:cs typeface="Times New Roman" panose="02020603050405020304"/>
              </a:rPr>
              <a:t>Integrates</a:t>
            </a:r>
            <a:r>
              <a:rPr sz="115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dirty="0">
                <a:latin typeface="Times New Roman" panose="02020603050405020304"/>
                <a:cs typeface="Times New Roman" panose="02020603050405020304"/>
              </a:rPr>
              <a:t>image</a:t>
            </a:r>
            <a:r>
              <a:rPr sz="115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dirty="0">
                <a:latin typeface="Times New Roman" panose="02020603050405020304"/>
                <a:cs typeface="Times New Roman" panose="02020603050405020304"/>
              </a:rPr>
              <a:t>values</a:t>
            </a:r>
            <a:r>
              <a:rPr sz="115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dirty="0">
                <a:latin typeface="Times New Roman" panose="02020603050405020304"/>
                <a:cs typeface="Times New Roman" panose="02020603050405020304"/>
              </a:rPr>
              <a:t>along</a:t>
            </a:r>
            <a:r>
              <a:rPr sz="115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dirty="0">
                <a:latin typeface="Times New Roman" panose="02020603050405020304"/>
                <a:cs typeface="Times New Roman" panose="02020603050405020304"/>
              </a:rPr>
              <a:t>each</a:t>
            </a:r>
            <a:r>
              <a:rPr sz="115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dirty="0">
                <a:latin typeface="Times New Roman" panose="02020603050405020304"/>
                <a:cs typeface="Times New Roman" panose="02020603050405020304"/>
              </a:rPr>
              <a:t>X-ray</a:t>
            </a:r>
            <a:r>
              <a:rPr sz="115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spc="-20" dirty="0">
                <a:latin typeface="Times New Roman" panose="02020603050405020304"/>
                <a:cs typeface="Times New Roman" panose="02020603050405020304"/>
              </a:rPr>
              <a:t>line</a:t>
            </a: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469265" indent="-318135">
              <a:lnSpc>
                <a:spcPct val="100000"/>
              </a:lnSpc>
              <a:spcBef>
                <a:spcPts val="950"/>
              </a:spcBef>
              <a:buFont typeface="Arial" panose="020B0604020202020204"/>
              <a:buChar char="●"/>
              <a:tabLst>
                <a:tab pos="469265" algn="l"/>
              </a:tabLst>
            </a:pPr>
            <a:r>
              <a:rPr sz="1150" dirty="0">
                <a:latin typeface="Times New Roman" panose="02020603050405020304"/>
                <a:cs typeface="Times New Roman" panose="02020603050405020304"/>
              </a:rPr>
              <a:t>Each</a:t>
            </a:r>
            <a:r>
              <a:rPr sz="115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dirty="0">
                <a:latin typeface="Times New Roman" panose="02020603050405020304"/>
                <a:cs typeface="Times New Roman" panose="02020603050405020304"/>
              </a:rPr>
              <a:t>measurement</a:t>
            </a:r>
            <a:r>
              <a:rPr sz="115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15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dirty="0"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115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dirty="0">
                <a:latin typeface="Times New Roman" panose="02020603050405020304"/>
                <a:cs typeface="Times New Roman" panose="02020603050405020304"/>
              </a:rPr>
              <a:t>attenuation</a:t>
            </a:r>
            <a:r>
              <a:rPr sz="115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dirty="0">
                <a:latin typeface="Times New Roman" panose="02020603050405020304"/>
                <a:cs typeface="Times New Roman" panose="02020603050405020304"/>
              </a:rPr>
              <a:t>along</a:t>
            </a:r>
            <a:r>
              <a:rPr sz="115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115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spc="-20" dirty="0">
                <a:latin typeface="Times New Roman" panose="02020603050405020304"/>
                <a:cs typeface="Times New Roman" panose="02020603050405020304"/>
              </a:rPr>
              <a:t>path</a:t>
            </a: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469265" indent="-318135">
              <a:lnSpc>
                <a:spcPct val="100000"/>
              </a:lnSpc>
              <a:spcBef>
                <a:spcPts val="945"/>
              </a:spcBef>
              <a:buFont typeface="Arial" panose="020B0604020202020204"/>
              <a:buChar char="●"/>
              <a:tabLst>
                <a:tab pos="469265" algn="l"/>
              </a:tabLst>
            </a:pPr>
            <a:r>
              <a:rPr sz="1150" dirty="0">
                <a:latin typeface="Times New Roman" panose="02020603050405020304"/>
                <a:cs typeface="Times New Roman" panose="02020603050405020304"/>
              </a:rPr>
              <a:t>Collect</a:t>
            </a:r>
            <a:r>
              <a:rPr sz="11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dirty="0">
                <a:latin typeface="Times New Roman" panose="02020603050405020304"/>
                <a:cs typeface="Times New Roman" panose="02020603050405020304"/>
              </a:rPr>
              <a:t>all</a:t>
            </a:r>
            <a:r>
              <a:rPr sz="11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dirty="0">
                <a:latin typeface="Times New Roman" panose="02020603050405020304"/>
                <a:cs typeface="Times New Roman" panose="02020603050405020304"/>
              </a:rPr>
              <a:t>lines</a:t>
            </a:r>
            <a:r>
              <a:rPr sz="115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dirty="0"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1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spc="-10" dirty="0">
                <a:latin typeface="Times New Roman" panose="02020603050405020304"/>
                <a:cs typeface="Times New Roman" panose="02020603050405020304"/>
              </a:rPr>
              <a:t>sinogram</a:t>
            </a: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339725" marR="5080">
              <a:lnSpc>
                <a:spcPct val="107000"/>
              </a:lnSpc>
            </a:pPr>
            <a:r>
              <a:rPr sz="1150" b="1" dirty="0">
                <a:latin typeface="Times New Roman" panose="02020603050405020304"/>
                <a:cs typeface="Times New Roman" panose="02020603050405020304"/>
              </a:rPr>
              <a:t>CT</a:t>
            </a:r>
            <a:r>
              <a:rPr sz="115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b="1" dirty="0">
                <a:latin typeface="Times New Roman" panose="02020603050405020304"/>
                <a:cs typeface="Times New Roman" panose="02020603050405020304"/>
              </a:rPr>
              <a:t>reconstruction</a:t>
            </a:r>
            <a:r>
              <a:rPr sz="115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b="1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150" b="1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b="1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115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b="1" dirty="0">
                <a:latin typeface="Times New Roman" panose="02020603050405020304"/>
                <a:cs typeface="Times New Roman" panose="02020603050405020304"/>
              </a:rPr>
              <a:t>inverse</a:t>
            </a:r>
            <a:r>
              <a:rPr sz="115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b="1" dirty="0">
                <a:latin typeface="Times New Roman" panose="02020603050405020304"/>
                <a:cs typeface="Times New Roman" panose="02020603050405020304"/>
              </a:rPr>
              <a:t>problem.</a:t>
            </a:r>
            <a:r>
              <a:rPr sz="115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b="1" dirty="0">
                <a:latin typeface="Times New Roman" panose="02020603050405020304"/>
                <a:cs typeface="Times New Roman" panose="02020603050405020304"/>
              </a:rPr>
              <a:t>Noise</a:t>
            </a:r>
            <a:r>
              <a:rPr sz="115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15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b="1" dirty="0">
                <a:latin typeface="Times New Roman" panose="02020603050405020304"/>
                <a:cs typeface="Times New Roman" panose="02020603050405020304"/>
              </a:rPr>
              <a:t>incomplete</a:t>
            </a:r>
            <a:r>
              <a:rPr sz="115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b="1" dirty="0">
                <a:latin typeface="Times New Roman" panose="02020603050405020304"/>
                <a:cs typeface="Times New Roman" panose="02020603050405020304"/>
              </a:rPr>
              <a:t>projections</a:t>
            </a:r>
            <a:r>
              <a:rPr sz="115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b="1" dirty="0">
                <a:latin typeface="Times New Roman" panose="02020603050405020304"/>
                <a:cs typeface="Times New Roman" panose="02020603050405020304"/>
              </a:rPr>
              <a:t>make</a:t>
            </a:r>
            <a:r>
              <a:rPr sz="115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b="1" dirty="0">
                <a:latin typeface="Times New Roman" panose="02020603050405020304"/>
                <a:cs typeface="Times New Roman" panose="02020603050405020304"/>
              </a:rPr>
              <a:t>direct</a:t>
            </a:r>
            <a:r>
              <a:rPr sz="115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b="1" dirty="0">
                <a:latin typeface="Times New Roman" panose="02020603050405020304"/>
                <a:cs typeface="Times New Roman" panose="02020603050405020304"/>
              </a:rPr>
              <a:t>inversion</a:t>
            </a:r>
            <a:r>
              <a:rPr sz="1150" b="1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b="1" dirty="0">
                <a:latin typeface="Times New Roman" panose="02020603050405020304"/>
                <a:cs typeface="Times New Roman" panose="02020603050405020304"/>
              </a:rPr>
              <a:t>unstable,</a:t>
            </a:r>
            <a:r>
              <a:rPr sz="115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b="1" spc="-10" dirty="0">
                <a:latin typeface="Times New Roman" panose="02020603050405020304"/>
                <a:cs typeface="Times New Roman" panose="02020603050405020304"/>
              </a:rPr>
              <a:t>motivating </a:t>
            </a:r>
            <a:r>
              <a:rPr sz="1150" b="1" dirty="0">
                <a:latin typeface="Times New Roman" panose="02020603050405020304"/>
                <a:cs typeface="Times New Roman" panose="02020603050405020304"/>
              </a:rPr>
              <a:t>regularized</a:t>
            </a:r>
            <a:r>
              <a:rPr sz="115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b="1" dirty="0">
                <a:latin typeface="Times New Roman" panose="02020603050405020304"/>
                <a:cs typeface="Times New Roman" panose="02020603050405020304"/>
              </a:rPr>
              <a:t>iterative </a:t>
            </a:r>
            <a:r>
              <a:rPr sz="1150" b="1" spc="-10" dirty="0">
                <a:latin typeface="Times New Roman" panose="02020603050405020304"/>
                <a:cs typeface="Times New Roman" panose="02020603050405020304"/>
              </a:rPr>
              <a:t>methods.</a:t>
            </a:r>
            <a:endParaRPr sz="11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70305" y="1053576"/>
            <a:ext cx="2924175" cy="461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" indent="-312420">
              <a:lnSpc>
                <a:spcPct val="100000"/>
              </a:lnSpc>
              <a:spcBef>
                <a:spcPts val="100"/>
              </a:spcBef>
              <a:buFont typeface="Arial" panose="020B0604020202020204"/>
              <a:buChar char="●"/>
              <a:tabLst>
                <a:tab pos="325120" algn="l"/>
              </a:tabLst>
            </a:pPr>
            <a:r>
              <a:rPr sz="1100" dirty="0">
                <a:latin typeface="Times New Roman" panose="02020603050405020304"/>
                <a:cs typeface="Times New Roman" panose="02020603050405020304"/>
              </a:rPr>
              <a:t>FBP:</a:t>
            </a:r>
            <a:r>
              <a:rPr sz="11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dirty="0">
                <a:latin typeface="Times New Roman" panose="02020603050405020304"/>
                <a:cs typeface="Times New Roman" panose="02020603050405020304"/>
              </a:rPr>
              <a:t>direct</a:t>
            </a:r>
            <a:r>
              <a:rPr sz="11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dirty="0">
                <a:latin typeface="Times New Roman" panose="02020603050405020304"/>
                <a:cs typeface="Times New Roman" panose="02020603050405020304"/>
              </a:rPr>
              <a:t>inversion</a:t>
            </a:r>
            <a:r>
              <a:rPr sz="11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dirty="0"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100" spc="-10" dirty="0">
                <a:latin typeface="Times New Roman" panose="02020603050405020304"/>
                <a:cs typeface="Times New Roman" panose="02020603050405020304"/>
              </a:rPr>
              <a:t> noisy, </a:t>
            </a:r>
            <a:r>
              <a:rPr sz="1100" dirty="0">
                <a:latin typeface="Times New Roman" panose="02020603050405020304"/>
                <a:cs typeface="Times New Roman" panose="02020603050405020304"/>
              </a:rPr>
              <a:t>streak</a:t>
            </a:r>
            <a:r>
              <a:rPr sz="11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-10" dirty="0">
                <a:latin typeface="Times New Roman" panose="02020603050405020304"/>
                <a:cs typeface="Times New Roman" panose="02020603050405020304"/>
              </a:rPr>
              <a:t>artifacts</a:t>
            </a:r>
            <a:endParaRPr sz="1100">
              <a:latin typeface="Times New Roman" panose="02020603050405020304"/>
              <a:cs typeface="Times New Roman" panose="02020603050405020304"/>
            </a:endParaRPr>
          </a:p>
          <a:p>
            <a:pPr marL="325120" indent="-312420">
              <a:lnSpc>
                <a:spcPct val="100000"/>
              </a:lnSpc>
              <a:spcBef>
                <a:spcPts val="790"/>
              </a:spcBef>
              <a:buFont typeface="Arial" panose="020B0604020202020204"/>
              <a:buChar char="●"/>
              <a:tabLst>
                <a:tab pos="325120" algn="l"/>
              </a:tabLst>
            </a:pPr>
            <a:r>
              <a:rPr sz="1100" dirty="0">
                <a:latin typeface="Times New Roman" panose="02020603050405020304"/>
                <a:cs typeface="Times New Roman" panose="02020603050405020304"/>
              </a:rPr>
              <a:t>Ill-posed </a:t>
            </a:r>
            <a:r>
              <a:rPr sz="1100" spc="-10" dirty="0">
                <a:latin typeface="Times New Roman" panose="02020603050405020304"/>
                <a:cs typeface="Times New Roman" panose="02020603050405020304"/>
              </a:rPr>
              <a:t>because:</a:t>
            </a:r>
            <a:endParaRPr sz="11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27505" y="1590024"/>
            <a:ext cx="2167890" cy="461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" indent="-312420">
              <a:lnSpc>
                <a:spcPct val="100000"/>
              </a:lnSpc>
              <a:spcBef>
                <a:spcPts val="100"/>
              </a:spcBef>
              <a:buFont typeface="Arial" panose="020B0604020202020204"/>
              <a:buChar char="○"/>
              <a:tabLst>
                <a:tab pos="325120" algn="l"/>
              </a:tabLst>
            </a:pPr>
            <a:r>
              <a:rPr sz="1100" dirty="0">
                <a:latin typeface="Times New Roman" panose="02020603050405020304"/>
                <a:cs typeface="Times New Roman" panose="02020603050405020304"/>
              </a:rPr>
              <a:t>Noise</a:t>
            </a:r>
            <a:r>
              <a:rPr sz="11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dirty="0">
                <a:latin typeface="Times New Roman" panose="02020603050405020304"/>
                <a:cs typeface="Times New Roman" panose="02020603050405020304"/>
              </a:rPr>
              <a:t>amplified</a:t>
            </a:r>
            <a:r>
              <a:rPr sz="1100" spc="-10" dirty="0">
                <a:latin typeface="Times New Roman" panose="02020603050405020304"/>
                <a:cs typeface="Times New Roman" panose="02020603050405020304"/>
              </a:rPr>
              <a:t> (ε≠0)</a:t>
            </a:r>
            <a:endParaRPr sz="1100">
              <a:latin typeface="Times New Roman" panose="02020603050405020304"/>
              <a:cs typeface="Times New Roman" panose="02020603050405020304"/>
            </a:endParaRPr>
          </a:p>
          <a:p>
            <a:pPr marL="325120" indent="-312420">
              <a:lnSpc>
                <a:spcPct val="100000"/>
              </a:lnSpc>
              <a:spcBef>
                <a:spcPts val="790"/>
              </a:spcBef>
              <a:buFont typeface="Arial" panose="020B0604020202020204"/>
              <a:buChar char="○"/>
              <a:tabLst>
                <a:tab pos="325120" algn="l"/>
              </a:tabLst>
            </a:pPr>
            <a:r>
              <a:rPr sz="1100" dirty="0">
                <a:latin typeface="Times New Roman" panose="02020603050405020304"/>
                <a:cs typeface="Times New Roman" panose="02020603050405020304"/>
              </a:rPr>
              <a:t>Limited</a:t>
            </a:r>
            <a:r>
              <a:rPr sz="11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dirty="0">
                <a:latin typeface="Times New Roman" panose="02020603050405020304"/>
                <a:cs typeface="Times New Roman" panose="02020603050405020304"/>
              </a:rPr>
              <a:t>angles</a:t>
            </a:r>
            <a:r>
              <a:rPr sz="11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1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dirty="0">
                <a:latin typeface="Times New Roman" panose="02020603050405020304"/>
                <a:cs typeface="Times New Roman" panose="02020603050405020304"/>
              </a:rPr>
              <a:t>incomplete</a:t>
            </a:r>
            <a:r>
              <a:rPr sz="1100" spc="-20" dirty="0">
                <a:latin typeface="Times New Roman" panose="02020603050405020304"/>
                <a:cs typeface="Times New Roman" panose="02020603050405020304"/>
              </a:rPr>
              <a:t> data</a:t>
            </a:r>
            <a:endParaRPr sz="11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70305" y="2126472"/>
            <a:ext cx="30886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" indent="-312420">
              <a:lnSpc>
                <a:spcPct val="100000"/>
              </a:lnSpc>
              <a:spcBef>
                <a:spcPts val="100"/>
              </a:spcBef>
              <a:buFont typeface="Arial" panose="020B0604020202020204"/>
              <a:buChar char="●"/>
              <a:tabLst>
                <a:tab pos="325120" algn="l"/>
              </a:tabLst>
            </a:pPr>
            <a:r>
              <a:rPr sz="1100" b="1" dirty="0">
                <a:latin typeface="Times New Roman" panose="02020603050405020304"/>
                <a:cs typeface="Times New Roman" panose="02020603050405020304"/>
              </a:rPr>
              <a:t>Goal:</a:t>
            </a:r>
            <a:r>
              <a:rPr sz="11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dirty="0">
                <a:latin typeface="Times New Roman" panose="02020603050405020304"/>
                <a:cs typeface="Times New Roman" panose="02020603050405020304"/>
              </a:rPr>
              <a:t>Recover x reliably → need</a:t>
            </a:r>
            <a:r>
              <a:rPr sz="11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b="1" spc="-10" dirty="0">
                <a:latin typeface="Times New Roman" panose="02020603050405020304"/>
                <a:cs typeface="Times New Roman" panose="02020603050405020304"/>
              </a:rPr>
              <a:t>regularization</a:t>
            </a:r>
            <a:endParaRPr sz="11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6515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20"/>
              </a:spcBef>
            </a:pPr>
            <a:r>
              <a:rPr spc="-30" dirty="0"/>
              <a:t>Total</a:t>
            </a:r>
            <a:r>
              <a:rPr spc="-80" dirty="0"/>
              <a:t> </a:t>
            </a:r>
            <a:r>
              <a:rPr spc="-20" dirty="0"/>
              <a:t>Variation</a:t>
            </a:r>
            <a:r>
              <a:rPr spc="-45" dirty="0"/>
              <a:t> </a:t>
            </a:r>
            <a:r>
              <a:rPr dirty="0"/>
              <a:t>(TV)</a:t>
            </a:r>
            <a:r>
              <a:rPr spc="-35" dirty="0"/>
              <a:t> </a:t>
            </a:r>
            <a:r>
              <a:rPr spc="-10" dirty="0"/>
              <a:t>Regularization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05650" y="1218896"/>
            <a:ext cx="5135245" cy="640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latin typeface="Times New Roman" panose="02020603050405020304"/>
                <a:cs typeface="Times New Roman" panose="02020603050405020304"/>
              </a:rPr>
              <a:t>Core</a:t>
            </a:r>
            <a:r>
              <a:rPr sz="13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b="1" spc="-20" dirty="0">
                <a:latin typeface="Times New Roman" panose="02020603050405020304"/>
                <a:cs typeface="Times New Roman" panose="02020603050405020304"/>
              </a:rPr>
              <a:t>Idea</a:t>
            </a:r>
            <a:endParaRPr sz="13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05000"/>
              </a:lnSpc>
            </a:pPr>
            <a:r>
              <a:rPr sz="1300" dirty="0">
                <a:latin typeface="Times New Roman" panose="02020603050405020304"/>
                <a:cs typeface="Times New Roman" panose="02020603050405020304"/>
              </a:rPr>
              <a:t>Reconstruct</a:t>
            </a:r>
            <a:r>
              <a:rPr sz="1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3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CT</a:t>
            </a:r>
            <a:r>
              <a:rPr sz="13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image</a:t>
            </a:r>
            <a:r>
              <a:rPr sz="13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13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minimizing</a:t>
            </a:r>
            <a:r>
              <a:rPr sz="13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3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balance</a:t>
            </a:r>
            <a:r>
              <a:rPr sz="13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between</a:t>
            </a:r>
            <a:r>
              <a:rPr sz="13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spc="-10" dirty="0">
                <a:latin typeface="Times New Roman" panose="02020603050405020304"/>
                <a:cs typeface="Times New Roman" panose="02020603050405020304"/>
              </a:rPr>
              <a:t>data-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fidelity</a:t>
            </a:r>
            <a:r>
              <a:rPr sz="1300" spc="-25" dirty="0">
                <a:latin typeface="Times New Roman" panose="02020603050405020304"/>
                <a:cs typeface="Times New Roman" panose="02020603050405020304"/>
              </a:rPr>
              <a:t> and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1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variation</a:t>
            </a:r>
            <a:r>
              <a:rPr sz="13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spc="-10" dirty="0">
                <a:latin typeface="Times New Roman" panose="02020603050405020304"/>
                <a:cs typeface="Times New Roman" panose="02020603050405020304"/>
              </a:rPr>
              <a:t>(gradient</a:t>
            </a:r>
            <a:r>
              <a:rPr sz="1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sparsity)</a:t>
            </a:r>
            <a:r>
              <a:rPr sz="13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3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promote</a:t>
            </a:r>
            <a:r>
              <a:rPr sz="1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piecewise-smooth</a:t>
            </a:r>
            <a:r>
              <a:rPr sz="13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spc="-10" dirty="0">
                <a:latin typeface="Times New Roman" panose="02020603050405020304"/>
                <a:cs typeface="Times New Roman" panose="02020603050405020304"/>
              </a:rPr>
              <a:t>images.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5650" y="1995373"/>
            <a:ext cx="3491865" cy="2613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latin typeface="Times New Roman" panose="02020603050405020304"/>
                <a:cs typeface="Times New Roman" panose="02020603050405020304"/>
              </a:rPr>
              <a:t>Algorithm</a:t>
            </a:r>
            <a:r>
              <a:rPr sz="1300" b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b="1" spc="-20" dirty="0">
                <a:latin typeface="Times New Roman" panose="02020603050405020304"/>
                <a:cs typeface="Times New Roman" panose="02020603050405020304"/>
              </a:rPr>
              <a:t>Flow</a:t>
            </a:r>
            <a:endParaRPr sz="1300">
              <a:latin typeface="Times New Roman" panose="02020603050405020304"/>
              <a:cs typeface="Times New Roman" panose="02020603050405020304"/>
            </a:endParaRPr>
          </a:p>
          <a:p>
            <a:pPr marL="177800" indent="-165100">
              <a:lnSpc>
                <a:spcPct val="100000"/>
              </a:lnSpc>
              <a:spcBef>
                <a:spcPts val="1025"/>
              </a:spcBef>
              <a:buAutoNum type="arabicPeriod"/>
              <a:tabLst>
                <a:tab pos="177800" algn="l"/>
              </a:tabLst>
            </a:pPr>
            <a:r>
              <a:rPr sz="1300" spc="-10" dirty="0">
                <a:latin typeface="Times New Roman" panose="02020603050405020304"/>
                <a:cs typeface="Times New Roman" panose="02020603050405020304"/>
              </a:rPr>
              <a:t>Initialize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image</a:t>
            </a:r>
            <a:r>
              <a:rPr sz="13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x0</a:t>
            </a:r>
            <a:r>
              <a:rPr sz="13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300" spc="-10" dirty="0">
                <a:latin typeface="Times New Roman" panose="02020603050405020304"/>
                <a:cs typeface="Times New Roman" panose="02020603050405020304"/>
              </a:rPr>
              <a:t> FBP(y)</a:t>
            </a:r>
            <a:endParaRPr sz="1300">
              <a:latin typeface="Times New Roman" panose="02020603050405020304"/>
              <a:cs typeface="Times New Roman" panose="02020603050405020304"/>
            </a:endParaRPr>
          </a:p>
          <a:p>
            <a:pPr marL="219075" indent="-206375">
              <a:lnSpc>
                <a:spcPts val="1405"/>
              </a:lnSpc>
              <a:spcBef>
                <a:spcPts val="940"/>
              </a:spcBef>
              <a:buAutoNum type="arabicPeriod"/>
              <a:tabLst>
                <a:tab pos="219075" algn="l"/>
              </a:tabLst>
            </a:pPr>
            <a:r>
              <a:rPr sz="1300" spc="-10" dirty="0">
                <a:latin typeface="Times New Roman" panose="02020603050405020304"/>
                <a:cs typeface="Times New Roman" panose="02020603050405020304"/>
              </a:rPr>
              <a:t>Iterate:</a:t>
            </a:r>
            <a:endParaRPr sz="1300">
              <a:latin typeface="Times New Roman" panose="02020603050405020304"/>
              <a:cs typeface="Times New Roman" panose="02020603050405020304"/>
            </a:endParaRPr>
          </a:p>
          <a:p>
            <a:pPr marL="838200">
              <a:lnSpc>
                <a:spcPts val="1405"/>
              </a:lnSpc>
            </a:pPr>
            <a:r>
              <a:rPr sz="1300" dirty="0">
                <a:latin typeface="Times New Roman" panose="02020603050405020304"/>
                <a:cs typeface="Times New Roman" panose="02020603050405020304"/>
              </a:rPr>
              <a:t>Forward</a:t>
            </a:r>
            <a:r>
              <a:rPr sz="13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spc="-10" dirty="0">
                <a:latin typeface="Times New Roman" panose="02020603050405020304"/>
                <a:cs typeface="Times New Roman" panose="02020603050405020304"/>
              </a:rPr>
              <a:t>projection:</a:t>
            </a:r>
            <a:r>
              <a:rPr sz="13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spc="-20" dirty="0">
                <a:latin typeface="Times New Roman" panose="02020603050405020304"/>
                <a:cs typeface="Times New Roman" panose="02020603050405020304"/>
              </a:rPr>
              <a:t>Ax_k</a:t>
            </a:r>
            <a:endParaRPr sz="1300">
              <a:latin typeface="Times New Roman" panose="02020603050405020304"/>
              <a:cs typeface="Times New Roman" panose="02020603050405020304"/>
            </a:endParaRPr>
          </a:p>
          <a:p>
            <a:pPr marL="838200" marR="575310">
              <a:lnSpc>
                <a:spcPct val="160000"/>
              </a:lnSpc>
            </a:pPr>
            <a:r>
              <a:rPr sz="1300" dirty="0">
                <a:latin typeface="Times New Roman" panose="02020603050405020304"/>
                <a:cs typeface="Times New Roman" panose="02020603050405020304"/>
              </a:rPr>
              <a:t>Compute</a:t>
            </a:r>
            <a:r>
              <a:rPr sz="1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loss:</a:t>
            </a:r>
            <a:r>
              <a:rPr sz="1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spc="-10" dirty="0">
                <a:latin typeface="Times New Roman" panose="02020603050405020304"/>
                <a:cs typeface="Times New Roman" panose="02020603050405020304"/>
              </a:rPr>
              <a:t>L(x_k)</a:t>
            </a:r>
            <a:r>
              <a:rPr sz="1300" spc="5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Compute</a:t>
            </a:r>
            <a:r>
              <a:rPr sz="13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gradient:</a:t>
            </a:r>
            <a:r>
              <a:rPr sz="1300" spc="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MS PMincho"/>
                <a:cs typeface="MS PMincho"/>
              </a:rPr>
              <a:t>∇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L(x_k)</a:t>
            </a:r>
            <a:r>
              <a:rPr sz="13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spc="-50" dirty="0">
                <a:latin typeface="Times New Roman" panose="02020603050405020304"/>
                <a:cs typeface="Times New Roman" panose="02020603050405020304"/>
              </a:rPr>
              <a:t>=</a:t>
            </a:r>
            <a:endParaRPr sz="1300">
              <a:latin typeface="Times New Roman" panose="02020603050405020304"/>
              <a:cs typeface="Times New Roman" panose="02020603050405020304"/>
            </a:endParaRPr>
          </a:p>
          <a:p>
            <a:pPr marL="838200">
              <a:lnSpc>
                <a:spcPct val="100000"/>
              </a:lnSpc>
              <a:spcBef>
                <a:spcPts val="935"/>
              </a:spcBef>
            </a:pPr>
            <a:r>
              <a:rPr sz="1300" dirty="0">
                <a:latin typeface="Times New Roman" panose="02020603050405020304"/>
                <a:cs typeface="Times New Roman" panose="02020603050405020304"/>
              </a:rPr>
              <a:t>Update</a:t>
            </a:r>
            <a:r>
              <a:rPr sz="1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x_(k+1)</a:t>
            </a:r>
            <a:r>
              <a:rPr sz="1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13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b="1" dirty="0">
                <a:latin typeface="Times New Roman" panose="02020603050405020304"/>
                <a:cs typeface="Times New Roman" panose="02020603050405020304"/>
              </a:rPr>
              <a:t>Adam</a:t>
            </a:r>
            <a:r>
              <a:rPr sz="13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b="1" spc="-10" dirty="0">
                <a:latin typeface="Times New Roman" panose="02020603050405020304"/>
                <a:cs typeface="Times New Roman" panose="02020603050405020304"/>
              </a:rPr>
              <a:t>optimizer</a:t>
            </a:r>
            <a:endParaRPr sz="1300">
              <a:latin typeface="Times New Roman" panose="02020603050405020304"/>
              <a:cs typeface="Times New Roman" panose="02020603050405020304"/>
            </a:endParaRPr>
          </a:p>
          <a:p>
            <a:pPr marL="835025">
              <a:lnSpc>
                <a:spcPct val="100000"/>
              </a:lnSpc>
              <a:spcBef>
                <a:spcPts val="935"/>
              </a:spcBef>
            </a:pPr>
            <a:r>
              <a:rPr sz="1300" dirty="0">
                <a:latin typeface="Times New Roman" panose="02020603050405020304"/>
                <a:cs typeface="Times New Roman" panose="02020603050405020304"/>
              </a:rPr>
              <a:t>Track</a:t>
            </a:r>
            <a:r>
              <a:rPr sz="13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best</a:t>
            </a:r>
            <a:r>
              <a:rPr sz="13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spc="-10" dirty="0">
                <a:latin typeface="Times New Roman" panose="02020603050405020304"/>
                <a:cs typeface="Times New Roman" panose="02020603050405020304"/>
              </a:rPr>
              <a:t>reconstruction</a:t>
            </a:r>
            <a:endParaRPr sz="1300">
              <a:latin typeface="Times New Roman" panose="02020603050405020304"/>
              <a:cs typeface="Times New Roman" panose="02020603050405020304"/>
            </a:endParaRPr>
          </a:p>
          <a:p>
            <a:pPr marL="177165" indent="-164465">
              <a:lnSpc>
                <a:spcPct val="100000"/>
              </a:lnSpc>
              <a:spcBef>
                <a:spcPts val="935"/>
              </a:spcBef>
              <a:buFont typeface="Times New Roman" panose="02020603050405020304"/>
              <a:buAutoNum type="arabicPeriod" startAt="3"/>
              <a:tabLst>
                <a:tab pos="177165" algn="l"/>
              </a:tabLst>
            </a:pPr>
            <a:r>
              <a:rPr sz="1300" b="1" dirty="0">
                <a:latin typeface="Times New Roman" panose="02020603050405020304"/>
                <a:cs typeface="Times New Roman" panose="02020603050405020304"/>
              </a:rPr>
              <a:t>Output:</a:t>
            </a:r>
            <a:r>
              <a:rPr sz="13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x*</a:t>
            </a:r>
            <a:r>
              <a:rPr sz="13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3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best</a:t>
            </a:r>
            <a:r>
              <a:rPr sz="13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spc="-10" dirty="0">
                <a:latin typeface="Times New Roman" panose="02020603050405020304"/>
                <a:cs typeface="Times New Roman" panose="02020603050405020304"/>
              </a:rPr>
              <a:t>reconstruction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32947" y="3433572"/>
            <a:ext cx="11874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50" dirty="0">
                <a:latin typeface="Times New Roman" panose="02020603050405020304"/>
                <a:cs typeface="Times New Roman" panose="02020603050405020304"/>
              </a:rPr>
              <a:t>+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0700" y="4860037"/>
            <a:ext cx="111696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latin typeface="Times New Roman" panose="02020603050405020304"/>
                <a:cs typeface="Times New Roman" panose="02020603050405020304"/>
              </a:rPr>
              <a:t>Loss</a:t>
            </a:r>
            <a:r>
              <a:rPr sz="13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b="1" spc="-10" dirty="0">
                <a:latin typeface="Times New Roman" panose="02020603050405020304"/>
                <a:cs typeface="Times New Roman" panose="02020603050405020304"/>
              </a:rPr>
              <a:t>Function</a:t>
            </a:r>
            <a:r>
              <a:rPr sz="13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b="1" spc="-50" dirty="0">
                <a:latin typeface="Times New Roman" panose="02020603050405020304"/>
                <a:cs typeface="Times New Roman" panose="02020603050405020304"/>
              </a:rPr>
              <a:t>: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81525" y="4766037"/>
            <a:ext cx="167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10</a:t>
            </a:r>
            <a:endParaRPr sz="10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8" name="object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54850" y="3448787"/>
            <a:ext cx="841438" cy="2200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1225" y="3458787"/>
            <a:ext cx="640079" cy="2000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2624" y="4875112"/>
            <a:ext cx="4057114" cy="2200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99158" y="1596061"/>
            <a:ext cx="2908259" cy="21094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240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20"/>
              </a:spcBef>
            </a:pPr>
            <a:r>
              <a:rPr dirty="0"/>
              <a:t>TV</a:t>
            </a:r>
            <a:r>
              <a:rPr spc="-45" dirty="0"/>
              <a:t> </a:t>
            </a:r>
            <a:r>
              <a:rPr spc="-10" dirty="0"/>
              <a:t>Reconstruction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79075" y="643142"/>
            <a:ext cx="5012323" cy="445157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8126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00"/>
              </a:spcBef>
            </a:pPr>
            <a:r>
              <a:rPr dirty="0"/>
              <a:t>TV</a:t>
            </a:r>
            <a:r>
              <a:rPr spc="-85" dirty="0"/>
              <a:t> </a:t>
            </a:r>
            <a:r>
              <a:rPr spc="-10" dirty="0"/>
              <a:t>Reconstruction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36101" y="722188"/>
            <a:ext cx="5034294" cy="44023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58750" y="466006"/>
            <a:ext cx="1377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500 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Iterations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46312" y="427480"/>
            <a:ext cx="1492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1000 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Iterations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5351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00"/>
              </a:spcBef>
            </a:pPr>
            <a:r>
              <a:rPr dirty="0"/>
              <a:t>Mean</a:t>
            </a:r>
            <a:r>
              <a:rPr spc="-75" dirty="0"/>
              <a:t> </a:t>
            </a:r>
            <a:r>
              <a:rPr dirty="0"/>
              <a:t>Metrics</a:t>
            </a:r>
            <a:r>
              <a:rPr spc="-70" dirty="0"/>
              <a:t> </a:t>
            </a:r>
            <a:r>
              <a:rPr dirty="0"/>
              <a:t>for</a:t>
            </a:r>
            <a:r>
              <a:rPr spc="-145" dirty="0"/>
              <a:t> </a:t>
            </a:r>
            <a:r>
              <a:rPr dirty="0"/>
              <a:t>TV</a:t>
            </a:r>
            <a:r>
              <a:rPr spc="-105" dirty="0"/>
              <a:t> </a:t>
            </a:r>
            <a:r>
              <a:rPr spc="-10" dirty="0"/>
              <a:t>Reconstruction</a:t>
            </a:r>
            <a:endParaRPr spc="-1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01237" y="1995487"/>
          <a:ext cx="8152765" cy="1415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8545"/>
                <a:gridCol w="1399540"/>
                <a:gridCol w="1467485"/>
                <a:gridCol w="1467484"/>
                <a:gridCol w="1402715"/>
              </a:tblGrid>
              <a:tr h="4718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900" b="1" dirty="0">
                          <a:latin typeface="Times New Roman" panose="02020603050405020304"/>
                          <a:cs typeface="Times New Roman" panose="02020603050405020304"/>
                        </a:rPr>
                        <a:t>For</a:t>
                      </a:r>
                      <a:r>
                        <a:rPr sz="1900" b="1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900" b="1" dirty="0">
                          <a:latin typeface="Times New Roman" panose="02020603050405020304"/>
                          <a:cs typeface="Times New Roman" panose="02020603050405020304"/>
                        </a:rPr>
                        <a:t>1000</a:t>
                      </a:r>
                      <a:r>
                        <a:rPr sz="1900" b="1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900" b="1" spc="-10" dirty="0">
                          <a:latin typeface="Times New Roman" panose="02020603050405020304"/>
                          <a:cs typeface="Times New Roman" panose="02020603050405020304"/>
                        </a:rPr>
                        <a:t>iterations</a:t>
                      </a: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900" b="1" dirty="0">
                          <a:latin typeface="Times New Roman" panose="02020603050405020304"/>
                          <a:cs typeface="Times New Roman" panose="02020603050405020304"/>
                        </a:rPr>
                        <a:t>PSNR</a:t>
                      </a:r>
                      <a:r>
                        <a:rPr sz="1900" b="1" spc="-7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900" b="1" spc="-20" dirty="0">
                          <a:latin typeface="Times New Roman" panose="02020603050405020304"/>
                          <a:cs typeface="Times New Roman" panose="02020603050405020304"/>
                        </a:rPr>
                        <a:t>(db)</a:t>
                      </a: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900" b="1" spc="-20" dirty="0">
                          <a:latin typeface="Times New Roman" panose="02020603050405020304"/>
                          <a:cs typeface="Times New Roman" panose="02020603050405020304"/>
                        </a:rPr>
                        <a:t>SSIM</a:t>
                      </a: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900" b="1" spc="-25" dirty="0">
                          <a:latin typeface="Times New Roman" panose="02020603050405020304"/>
                          <a:cs typeface="Times New Roman" panose="02020603050405020304"/>
                        </a:rPr>
                        <a:t>MSE</a:t>
                      </a: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900" b="1" spc="-25" dirty="0">
                          <a:latin typeface="Times New Roman" panose="02020603050405020304"/>
                          <a:cs typeface="Times New Roman" panose="02020603050405020304"/>
                        </a:rPr>
                        <a:t>MAE</a:t>
                      </a: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</a:tr>
              <a:tr h="4718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900" b="1" spc="-10" dirty="0">
                          <a:latin typeface="Times New Roman" panose="02020603050405020304"/>
                          <a:cs typeface="Times New Roman" panose="02020603050405020304"/>
                        </a:rPr>
                        <a:t>Validation</a:t>
                      </a: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900" b="1" spc="-10" dirty="0">
                          <a:latin typeface="Times New Roman" panose="02020603050405020304"/>
                          <a:cs typeface="Times New Roman" panose="02020603050405020304"/>
                        </a:rPr>
                        <a:t>32.24</a:t>
                      </a: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9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0.824</a:t>
                      </a: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9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0.0002</a:t>
                      </a: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9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0.0089</a:t>
                      </a: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4718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900" b="1" spc="-20" dirty="0">
                          <a:latin typeface="Times New Roman" panose="02020603050405020304"/>
                          <a:cs typeface="Times New Roman" panose="02020603050405020304"/>
                        </a:rPr>
                        <a:t>Test</a:t>
                      </a: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900" b="1" spc="-10" dirty="0">
                          <a:latin typeface="Times New Roman" panose="02020603050405020304"/>
                          <a:cs typeface="Times New Roman" panose="02020603050405020304"/>
                        </a:rPr>
                        <a:t>31.42</a:t>
                      </a: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9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0.781</a:t>
                      </a: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9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0.0003</a:t>
                      </a: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9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0.0107</a:t>
                      </a: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8694132" y="4725904"/>
            <a:ext cx="25400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1800" b="1" spc="-2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14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6515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20"/>
              </a:spcBef>
            </a:pPr>
            <a:r>
              <a:rPr dirty="0"/>
              <a:t>Learned</a:t>
            </a:r>
            <a:r>
              <a:rPr spc="-20" dirty="0"/>
              <a:t> </a:t>
            </a:r>
            <a:r>
              <a:rPr dirty="0"/>
              <a:t>Primal</a:t>
            </a:r>
            <a:r>
              <a:rPr spc="-1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Dual</a:t>
            </a:r>
            <a:r>
              <a:rPr spc="-15" dirty="0"/>
              <a:t> </a:t>
            </a:r>
            <a:r>
              <a:rPr spc="-10" dirty="0"/>
              <a:t>Reconstruction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86383"/>
            <a:ext cx="7755255" cy="305498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400" b="1" dirty="0">
                <a:latin typeface="Times New Roman" panose="02020603050405020304"/>
                <a:cs typeface="Times New Roman" panose="02020603050405020304"/>
              </a:rPr>
              <a:t>Core</a:t>
            </a:r>
            <a:r>
              <a:rPr sz="1400" b="1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10" dirty="0">
                <a:latin typeface="Times New Roman" panose="02020603050405020304"/>
                <a:cs typeface="Times New Roman" panose="02020603050405020304"/>
              </a:rPr>
              <a:t>idea: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255"/>
              </a:spcBef>
            </a:pPr>
            <a:r>
              <a:rPr sz="1400" dirty="0">
                <a:latin typeface="Times New Roman" panose="02020603050405020304"/>
                <a:cs typeface="Times New Roman" panose="02020603050405020304"/>
              </a:rPr>
              <a:t>Learn</a:t>
            </a:r>
            <a:r>
              <a:rPr sz="1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14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iterative</a:t>
            </a:r>
            <a:r>
              <a:rPr sz="1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algorithm</a:t>
            </a:r>
            <a:r>
              <a:rPr sz="1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1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alternates</a:t>
            </a:r>
            <a:r>
              <a:rPr sz="1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primal</a:t>
            </a:r>
            <a:r>
              <a:rPr sz="1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(image)</a:t>
            </a:r>
            <a:r>
              <a:rPr sz="14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4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dual</a:t>
            </a:r>
            <a:r>
              <a:rPr sz="1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(data)</a:t>
            </a:r>
            <a:r>
              <a:rPr sz="14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updates.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400" dirty="0">
                <a:latin typeface="Times New Roman" panose="02020603050405020304"/>
                <a:cs typeface="Times New Roman" panose="02020603050405020304"/>
              </a:rPr>
              <a:t>Each</a:t>
            </a:r>
            <a:r>
              <a:rPr sz="1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update</a:t>
            </a:r>
            <a:r>
              <a:rPr sz="1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step</a:t>
            </a:r>
            <a:r>
              <a:rPr sz="1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replaced</a:t>
            </a:r>
            <a:r>
              <a:rPr sz="1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1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learned</a:t>
            </a:r>
            <a:r>
              <a:rPr sz="1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CNN</a:t>
            </a:r>
            <a:r>
              <a:rPr sz="1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block,</a:t>
            </a:r>
            <a:r>
              <a:rPr sz="1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while</a:t>
            </a:r>
            <a:r>
              <a:rPr sz="1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still</a:t>
            </a:r>
            <a:r>
              <a:rPr sz="1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1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CT</a:t>
            </a:r>
            <a:r>
              <a:rPr sz="1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forward</a:t>
            </a:r>
            <a:r>
              <a:rPr sz="1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sz="1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its</a:t>
            </a:r>
            <a:r>
              <a:rPr sz="1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adjoint.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latin typeface="Times New Roman" panose="02020603050405020304"/>
                <a:cs typeface="Times New Roman" panose="02020603050405020304"/>
              </a:rPr>
              <a:t>Algorithm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469265" indent="-376555">
              <a:lnSpc>
                <a:spcPct val="100000"/>
              </a:lnSpc>
              <a:spcBef>
                <a:spcPts val="1455"/>
              </a:spcBef>
              <a:buFont typeface="Arial" panose="020B0604020202020204"/>
              <a:buAutoNum type="arabicPeriod"/>
              <a:tabLst>
                <a:tab pos="469265" algn="l"/>
                <a:tab pos="2531110" algn="l"/>
                <a:tab pos="3404870" algn="l"/>
              </a:tabLst>
            </a:pPr>
            <a:r>
              <a:rPr sz="1400" dirty="0">
                <a:latin typeface="Times New Roman" panose="02020603050405020304"/>
                <a:cs typeface="Times New Roman" panose="02020603050405020304"/>
              </a:rPr>
              <a:t>Initialize</a:t>
            </a:r>
            <a:r>
              <a:rPr sz="1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primal</a:t>
            </a:r>
            <a:r>
              <a:rPr sz="1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image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	and</a:t>
            </a:r>
            <a:r>
              <a:rPr sz="1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20" dirty="0">
                <a:latin typeface="Times New Roman" panose="02020603050405020304"/>
                <a:cs typeface="Times New Roman" panose="02020603050405020304"/>
              </a:rPr>
              <a:t>dual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400" b="1" spc="-50" dirty="0">
                <a:latin typeface="Times New Roman" panose="02020603050405020304"/>
                <a:cs typeface="Times New Roman" panose="02020603050405020304"/>
              </a:rPr>
              <a:t>.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469265" indent="-361315">
              <a:lnSpc>
                <a:spcPct val="100000"/>
              </a:lnSpc>
              <a:spcBef>
                <a:spcPts val="250"/>
              </a:spcBef>
              <a:buAutoNum type="arabicPeriod"/>
              <a:tabLst>
                <a:tab pos="469265" algn="l"/>
              </a:tabLst>
            </a:pPr>
            <a:r>
              <a:rPr sz="14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4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each</a:t>
            </a:r>
            <a:r>
              <a:rPr sz="14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iteration</a:t>
            </a:r>
            <a:r>
              <a:rPr sz="14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14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1,…,K</a:t>
            </a:r>
            <a:r>
              <a:rPr sz="1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50" dirty="0">
                <a:latin typeface="Times New Roman" panose="02020603050405020304"/>
                <a:cs typeface="Times New Roman" panose="02020603050405020304"/>
              </a:rPr>
              <a:t>: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926465" lvl="1" indent="-335915">
              <a:lnSpc>
                <a:spcPct val="100000"/>
              </a:lnSpc>
              <a:spcBef>
                <a:spcPts val="255"/>
              </a:spcBef>
              <a:buFont typeface="Arial" panose="020B0604020202020204"/>
              <a:buChar char="○"/>
              <a:tabLst>
                <a:tab pos="926465" algn="l"/>
              </a:tabLst>
            </a:pPr>
            <a:r>
              <a:rPr sz="1400" b="1" dirty="0">
                <a:latin typeface="Times New Roman" panose="02020603050405020304"/>
                <a:cs typeface="Times New Roman" panose="02020603050405020304"/>
              </a:rPr>
              <a:t>Dual</a:t>
            </a:r>
            <a:r>
              <a:rPr sz="14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10" dirty="0">
                <a:latin typeface="Times New Roman" panose="02020603050405020304"/>
                <a:cs typeface="Times New Roman" panose="02020603050405020304"/>
              </a:rPr>
              <a:t>Update: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lvl="1">
              <a:lnSpc>
                <a:spcPct val="100000"/>
              </a:lnSpc>
              <a:spcBef>
                <a:spcPts val="570"/>
              </a:spcBef>
              <a:buFont typeface="Arial" panose="020B0604020202020204"/>
              <a:buChar char="○"/>
            </a:pP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926465" lvl="1" indent="-335915">
              <a:lnSpc>
                <a:spcPct val="100000"/>
              </a:lnSpc>
              <a:buFont typeface="Arial" panose="020B0604020202020204"/>
              <a:buChar char="○"/>
              <a:tabLst>
                <a:tab pos="926465" algn="l"/>
              </a:tabLst>
            </a:pPr>
            <a:r>
              <a:rPr sz="1400" b="1" dirty="0">
                <a:latin typeface="Times New Roman" panose="02020603050405020304"/>
                <a:cs typeface="Times New Roman" panose="02020603050405020304"/>
              </a:rPr>
              <a:t>Primal</a:t>
            </a:r>
            <a:r>
              <a:rPr sz="14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10" dirty="0">
                <a:latin typeface="Times New Roman" panose="02020603050405020304"/>
                <a:cs typeface="Times New Roman" panose="02020603050405020304"/>
              </a:rPr>
              <a:t>Update: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lvl="1">
              <a:lnSpc>
                <a:spcPct val="100000"/>
              </a:lnSpc>
              <a:spcBef>
                <a:spcPts val="575"/>
              </a:spcBef>
              <a:buFont typeface="Arial" panose="020B0604020202020204"/>
              <a:buChar char="○"/>
            </a:pP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469265" indent="-376555">
              <a:lnSpc>
                <a:spcPct val="100000"/>
              </a:lnSpc>
              <a:buFont typeface="Arial" panose="020B0604020202020204"/>
              <a:buAutoNum type="arabicPeriod"/>
              <a:tabLst>
                <a:tab pos="469265" algn="l"/>
                <a:tab pos="3212465" algn="l"/>
              </a:tabLst>
            </a:pPr>
            <a:r>
              <a:rPr sz="1400" dirty="0">
                <a:latin typeface="Times New Roman" panose="02020603050405020304"/>
                <a:cs typeface="Times New Roman" panose="02020603050405020304"/>
              </a:rPr>
              <a:t>Output</a:t>
            </a:r>
            <a:r>
              <a:rPr sz="1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final</a:t>
            </a:r>
            <a:r>
              <a:rPr sz="1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reconstructed</a:t>
            </a:r>
            <a:r>
              <a:rPr sz="1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image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400" spc="-50" dirty="0">
                <a:latin typeface="Times New Roman" panose="02020603050405020304"/>
                <a:cs typeface="Times New Roman" panose="02020603050405020304"/>
              </a:rPr>
              <a:t>.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542075" y="2571750"/>
            <a:ext cx="241974" cy="1720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4525" y="2571750"/>
            <a:ext cx="166687" cy="17202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29150" y="3197549"/>
            <a:ext cx="2350764" cy="2151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59450" y="4015525"/>
            <a:ext cx="295274" cy="2151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29150" y="3601390"/>
            <a:ext cx="2350776" cy="24749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76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00"/>
              </a:spcBef>
            </a:pPr>
            <a:r>
              <a:rPr dirty="0"/>
              <a:t>Learned</a:t>
            </a:r>
            <a:r>
              <a:rPr spc="-45" dirty="0"/>
              <a:t> </a:t>
            </a:r>
            <a:r>
              <a:rPr dirty="0"/>
              <a:t>Primal</a:t>
            </a:r>
            <a:r>
              <a:rPr spc="-45" dirty="0"/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dirty="0"/>
              <a:t>Dual</a:t>
            </a:r>
            <a:r>
              <a:rPr spc="-45" dirty="0"/>
              <a:t> </a:t>
            </a:r>
            <a:r>
              <a:rPr spc="-10" dirty="0"/>
              <a:t>Reconstruction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07545" y="1077588"/>
            <a:ext cx="7004018" cy="359179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76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00"/>
              </a:spcBef>
            </a:pPr>
            <a:r>
              <a:rPr dirty="0"/>
              <a:t>Learned</a:t>
            </a:r>
            <a:r>
              <a:rPr spc="-45" dirty="0"/>
              <a:t> </a:t>
            </a:r>
            <a:r>
              <a:rPr dirty="0"/>
              <a:t>Primal</a:t>
            </a:r>
            <a:r>
              <a:rPr spc="-45" dirty="0"/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dirty="0"/>
              <a:t>Dual</a:t>
            </a:r>
            <a:r>
              <a:rPr spc="-45" dirty="0"/>
              <a:t> </a:t>
            </a:r>
            <a:r>
              <a:rPr spc="-10" dirty="0"/>
              <a:t>Reconstruction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95567" y="1078860"/>
            <a:ext cx="7152865" cy="366813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76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00"/>
              </a:spcBef>
            </a:pPr>
            <a:r>
              <a:rPr dirty="0"/>
              <a:t>Mean</a:t>
            </a:r>
            <a:r>
              <a:rPr spc="-70" dirty="0"/>
              <a:t> </a:t>
            </a:r>
            <a:r>
              <a:rPr dirty="0"/>
              <a:t>Metrics</a:t>
            </a:r>
            <a:r>
              <a:rPr spc="-65" dirty="0"/>
              <a:t> </a:t>
            </a:r>
            <a:r>
              <a:rPr dirty="0"/>
              <a:t>for</a:t>
            </a:r>
            <a:r>
              <a:rPr spc="-105" dirty="0"/>
              <a:t> </a:t>
            </a:r>
            <a:r>
              <a:rPr dirty="0"/>
              <a:t>Learned</a:t>
            </a:r>
            <a:r>
              <a:rPr spc="-65" dirty="0"/>
              <a:t> </a:t>
            </a:r>
            <a:r>
              <a:rPr dirty="0"/>
              <a:t>Primal</a:t>
            </a:r>
            <a:r>
              <a:rPr spc="-70" dirty="0"/>
              <a:t> </a:t>
            </a:r>
            <a:r>
              <a:rPr dirty="0"/>
              <a:t>Dual</a:t>
            </a:r>
            <a:r>
              <a:rPr spc="-65" dirty="0"/>
              <a:t> </a:t>
            </a:r>
            <a:r>
              <a:rPr spc="-10" dirty="0"/>
              <a:t>Reconstruction</a:t>
            </a:r>
            <a:endParaRPr spc="-1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47737" y="1995487"/>
          <a:ext cx="7439025" cy="1802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0660"/>
                <a:gridCol w="1470660"/>
                <a:gridCol w="1470659"/>
                <a:gridCol w="1470660"/>
                <a:gridCol w="1470660"/>
              </a:tblGrid>
              <a:tr h="645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20" dirty="0">
                          <a:latin typeface="Times New Roman" panose="02020603050405020304"/>
                          <a:cs typeface="Times New Roman" panose="02020603050405020304"/>
                        </a:rPr>
                        <a:t>PSNR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20" dirty="0">
                          <a:latin typeface="Times New Roman" panose="02020603050405020304"/>
                          <a:cs typeface="Times New Roman" panose="02020603050405020304"/>
                        </a:rPr>
                        <a:t>SSIM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25" dirty="0">
                          <a:latin typeface="Times New Roman" panose="02020603050405020304"/>
                          <a:cs typeface="Times New Roman" panose="02020603050405020304"/>
                        </a:rPr>
                        <a:t>MSE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25" dirty="0">
                          <a:latin typeface="Times New Roman" panose="02020603050405020304"/>
                          <a:cs typeface="Times New Roman" panose="02020603050405020304"/>
                        </a:rPr>
                        <a:t>MAE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10" dirty="0">
                          <a:latin typeface="Times New Roman" panose="02020603050405020304"/>
                          <a:cs typeface="Times New Roman" panose="02020603050405020304"/>
                        </a:rPr>
                        <a:t>Validation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10" dirty="0">
                          <a:latin typeface="Times New Roman" panose="02020603050405020304"/>
                          <a:cs typeface="Times New Roman" panose="02020603050405020304"/>
                        </a:rPr>
                        <a:t>36.9281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0.8844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0.0001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0.0069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20" dirty="0">
                          <a:latin typeface="Times New Roman" panose="02020603050405020304"/>
                          <a:cs typeface="Times New Roman" panose="02020603050405020304"/>
                        </a:rPr>
                        <a:t>Test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10" dirty="0">
                          <a:latin typeface="Times New Roman" panose="02020603050405020304"/>
                          <a:cs typeface="Times New Roman" panose="02020603050405020304"/>
                        </a:rPr>
                        <a:t>36.0520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20" dirty="0">
                          <a:latin typeface="Times New Roman" panose="02020603050405020304"/>
                          <a:cs typeface="Times New Roman" panose="02020603050405020304"/>
                        </a:rPr>
                        <a:t>0.85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0.0002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0.0086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8757682" y="4759630"/>
            <a:ext cx="190500" cy="208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20"/>
              </a:lnSpc>
            </a:pPr>
            <a:r>
              <a:rPr sz="1300" b="1" spc="-2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18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76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00"/>
              </a:spcBef>
            </a:pPr>
            <a:r>
              <a:rPr dirty="0"/>
              <a:t>Analysis</a:t>
            </a:r>
            <a:r>
              <a:rPr spc="-55" dirty="0"/>
              <a:t> </a:t>
            </a:r>
            <a:r>
              <a:rPr dirty="0"/>
              <a:t>-</a:t>
            </a:r>
            <a:r>
              <a:rPr spc="-95" dirty="0"/>
              <a:t> </a:t>
            </a:r>
            <a:r>
              <a:rPr spc="-45" dirty="0"/>
              <a:t>Test</a:t>
            </a:r>
            <a:r>
              <a:rPr spc="-50" dirty="0"/>
              <a:t> </a:t>
            </a:r>
            <a:r>
              <a:rPr dirty="0"/>
              <a:t>Set</a:t>
            </a:r>
            <a:r>
              <a:rPr spc="-50" dirty="0"/>
              <a:t> </a:t>
            </a:r>
            <a:r>
              <a:rPr spc="-10" dirty="0"/>
              <a:t>Results</a:t>
            </a:r>
            <a:endParaRPr spc="-1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70187" y="1232812"/>
          <a:ext cx="7324725" cy="1582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10" dirty="0">
                          <a:latin typeface="Times New Roman" panose="02020603050405020304"/>
                          <a:cs typeface="Times New Roman" panose="02020603050405020304"/>
                        </a:rPr>
                        <a:t>Method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20" dirty="0">
                          <a:latin typeface="Times New Roman" panose="02020603050405020304"/>
                          <a:cs typeface="Times New Roman" panose="02020603050405020304"/>
                        </a:rPr>
                        <a:t>PSNR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20" dirty="0">
                          <a:latin typeface="Times New Roman" panose="02020603050405020304"/>
                          <a:cs typeface="Times New Roman" panose="02020603050405020304"/>
                        </a:rPr>
                        <a:t>SSIM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20" dirty="0">
                          <a:latin typeface="Times New Roman" panose="02020603050405020304"/>
                          <a:cs typeface="Times New Roman" panose="02020603050405020304"/>
                        </a:rPr>
                        <a:t>PSNR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20" dirty="0">
                          <a:latin typeface="Times New Roman" panose="02020603050405020304"/>
                          <a:cs typeface="Times New Roman" panose="02020603050405020304"/>
                        </a:rPr>
                        <a:t>SSIM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25" dirty="0">
                          <a:latin typeface="Times New Roman" panose="02020603050405020304"/>
                          <a:cs typeface="Times New Roman" panose="02020603050405020304"/>
                        </a:rPr>
                        <a:t>FBP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10" dirty="0">
                          <a:latin typeface="Times New Roman" panose="02020603050405020304"/>
                          <a:cs typeface="Times New Roman" panose="02020603050405020304"/>
                        </a:rPr>
                        <a:t>30.516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0.7372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10" dirty="0">
                          <a:latin typeface="Times New Roman" panose="02020603050405020304"/>
                          <a:cs typeface="Times New Roman" panose="02020603050405020304"/>
                        </a:rPr>
                        <a:t>30.45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0.7415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-25" dirty="0">
                          <a:latin typeface="Times New Roman" panose="02020603050405020304"/>
                          <a:cs typeface="Times New Roman" panose="02020603050405020304"/>
                        </a:rPr>
                        <a:t>TV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-10" dirty="0">
                          <a:latin typeface="Times New Roman" panose="02020603050405020304"/>
                          <a:cs typeface="Times New Roman" panose="02020603050405020304"/>
                        </a:rPr>
                        <a:t>31.42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0.781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-10" dirty="0">
                          <a:latin typeface="Times New Roman" panose="02020603050405020304"/>
                          <a:cs typeface="Times New Roman" panose="02020603050405020304"/>
                        </a:rPr>
                        <a:t>33.36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0.830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dirty="0">
                          <a:latin typeface="Times New Roman" panose="02020603050405020304"/>
                          <a:cs typeface="Times New Roman" panose="02020603050405020304"/>
                        </a:rPr>
                        <a:t>Learned</a:t>
                      </a:r>
                      <a:r>
                        <a:rPr sz="1400" b="1" spc="-9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400" b="1" spc="-25" dirty="0">
                          <a:latin typeface="Times New Roman" panose="02020603050405020304"/>
                          <a:cs typeface="Times New Roman" panose="02020603050405020304"/>
                        </a:rPr>
                        <a:t>PD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10" dirty="0">
                          <a:latin typeface="Times New Roman" panose="02020603050405020304"/>
                          <a:cs typeface="Times New Roman" panose="02020603050405020304"/>
                        </a:rPr>
                        <a:t>36.052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20" dirty="0">
                          <a:latin typeface="Times New Roman" panose="02020603050405020304"/>
                          <a:cs typeface="Times New Roman" panose="02020603050405020304"/>
                        </a:rPr>
                        <a:t>0.85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10" dirty="0">
                          <a:latin typeface="Times New Roman" panose="02020603050405020304"/>
                          <a:cs typeface="Times New Roman" panose="02020603050405020304"/>
                        </a:rPr>
                        <a:t>36.25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b="1" spc="-10" dirty="0">
                          <a:latin typeface="Times New Roman" panose="02020603050405020304"/>
                          <a:cs typeface="Times New Roman" panose="02020603050405020304"/>
                        </a:rPr>
                        <a:t>0.866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61875" y="3481947"/>
            <a:ext cx="6933565" cy="1275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u="heavy" spc="-1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 panose="02020603050405020304"/>
                <a:cs typeface="Times New Roman" panose="02020603050405020304"/>
                <a:hlinkClick r:id="rId1"/>
              </a:rPr>
              <a:t>https://ieeexplore.ieee.org/stamp/stamp.jsp?arnumber=10979336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300" dirty="0">
                <a:latin typeface="Times New Roman" panose="02020603050405020304"/>
                <a:cs typeface="Times New Roman" panose="02020603050405020304"/>
              </a:rPr>
              <a:t>Proposed</a:t>
            </a:r>
            <a:r>
              <a:rPr sz="13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b="1" spc="-60" dirty="0">
                <a:latin typeface="Times New Roman" panose="02020603050405020304"/>
                <a:cs typeface="Times New Roman" panose="02020603050405020304"/>
              </a:rPr>
              <a:t>FAST-</a:t>
            </a:r>
            <a:r>
              <a:rPr sz="1300" b="1" dirty="0">
                <a:latin typeface="Times New Roman" panose="02020603050405020304"/>
                <a:cs typeface="Times New Roman" panose="02020603050405020304"/>
              </a:rPr>
              <a:t>DDPM</a:t>
            </a:r>
            <a:r>
              <a:rPr sz="13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b="1" spc="-10" dirty="0">
                <a:latin typeface="Times New Roman" panose="02020603050405020304"/>
                <a:cs typeface="Times New Roman" panose="02020603050405020304"/>
              </a:rPr>
              <a:t>diffusion</a:t>
            </a:r>
            <a:r>
              <a:rPr sz="13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b="1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sz="13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reconstructs</a:t>
            </a:r>
            <a:r>
              <a:rPr sz="1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spc="-10" dirty="0">
                <a:latin typeface="Times New Roman" panose="02020603050405020304"/>
                <a:cs typeface="Times New Roman" panose="02020603050405020304"/>
              </a:rPr>
              <a:t>full-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dose</a:t>
            </a:r>
            <a:r>
              <a:rPr sz="1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CT</a:t>
            </a:r>
            <a:r>
              <a:rPr sz="13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1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10%</a:t>
            </a:r>
            <a:r>
              <a:rPr sz="13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spc="-10" dirty="0">
                <a:latin typeface="Times New Roman" panose="02020603050405020304"/>
                <a:cs typeface="Times New Roman" panose="02020603050405020304"/>
              </a:rPr>
              <a:t>low-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dose</a:t>
            </a:r>
            <a:r>
              <a:rPr sz="1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input,</a:t>
            </a:r>
            <a:r>
              <a:rPr sz="13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spc="-10" dirty="0">
                <a:latin typeface="Times New Roman" panose="02020603050405020304"/>
                <a:cs typeface="Times New Roman" panose="02020603050405020304"/>
              </a:rPr>
              <a:t>achieving</a:t>
            </a:r>
            <a:endParaRPr sz="13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300" dirty="0">
                <a:latin typeface="Times New Roman" panose="02020603050405020304"/>
                <a:cs typeface="Times New Roman" panose="02020603050405020304"/>
              </a:rPr>
              <a:t>37.5</a:t>
            </a:r>
            <a:r>
              <a:rPr sz="13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dB</a:t>
            </a:r>
            <a:r>
              <a:rPr sz="13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PSNR</a:t>
            </a:r>
            <a:r>
              <a:rPr sz="13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3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0.92</a:t>
            </a:r>
            <a:r>
              <a:rPr sz="13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SSIM</a:t>
            </a:r>
            <a:r>
              <a:rPr sz="13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3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3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evaluation</a:t>
            </a:r>
            <a:r>
              <a:rPr sz="13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set</a:t>
            </a:r>
            <a:r>
              <a:rPr sz="13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(38</a:t>
            </a:r>
            <a:r>
              <a:rPr sz="13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train</a:t>
            </a:r>
            <a:r>
              <a:rPr sz="13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13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10</a:t>
            </a:r>
            <a:r>
              <a:rPr sz="13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3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spc="-10" dirty="0">
                <a:latin typeface="Times New Roman" panose="02020603050405020304"/>
                <a:cs typeface="Times New Roman" panose="02020603050405020304"/>
              </a:rPr>
              <a:t>patients).</a:t>
            </a:r>
            <a:endParaRPr sz="13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300">
              <a:latin typeface="Times New Roman" panose="02020603050405020304"/>
              <a:cs typeface="Times New Roman" panose="02020603050405020304"/>
            </a:endParaRPr>
          </a:p>
          <a:p>
            <a:pPr marL="12700" marR="2961640">
              <a:lnSpc>
                <a:spcPct val="100000"/>
              </a:lnSpc>
            </a:pPr>
            <a:r>
              <a:rPr sz="1400" b="1" u="heavy" spc="-2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 panose="02020603050405020304"/>
                <a:cs typeface="Times New Roman" panose="02020603050405020304"/>
                <a:hlinkClick r:id="rId2"/>
              </a:rPr>
              <a:t>https://www.nature.com/articles/s41597-021-00893-</a:t>
            </a:r>
            <a:r>
              <a:rPr sz="1400" b="1" u="heavy" spc="-5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 panose="02020603050405020304"/>
                <a:cs typeface="Times New Roman" panose="02020603050405020304"/>
                <a:hlinkClick r:id="rId2"/>
              </a:rPr>
              <a:t>z</a:t>
            </a:r>
            <a:r>
              <a:rPr sz="1400" b="1" u="none" spc="-50" dirty="0">
                <a:solidFill>
                  <a:srgbClr val="3D85C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u="heavy" spc="-10" dirty="0">
                <a:solidFill>
                  <a:srgbClr val="3D85C6"/>
                </a:solidFill>
                <a:uFill>
                  <a:solidFill>
                    <a:srgbClr val="3D85C6"/>
                  </a:solidFill>
                </a:uFill>
                <a:latin typeface="Times New Roman" panose="02020603050405020304"/>
                <a:cs typeface="Times New Roman" panose="02020603050405020304"/>
                <a:hlinkClick r:id="rId3"/>
              </a:rPr>
              <a:t>https://www.mdpi.com/2313-433X/7/3/44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02299" y="2072500"/>
            <a:ext cx="304165" cy="698500"/>
          </a:xfrm>
          <a:custGeom>
            <a:avLst/>
            <a:gdLst/>
            <a:ahLst/>
            <a:cxnLst/>
            <a:rect l="l" t="t" r="r" b="b"/>
            <a:pathLst>
              <a:path w="304165" h="698500">
                <a:moveTo>
                  <a:pt x="0" y="8224"/>
                </a:moveTo>
                <a:lnTo>
                  <a:pt x="205274" y="0"/>
                </a:lnTo>
                <a:lnTo>
                  <a:pt x="197049" y="697949"/>
                </a:lnTo>
                <a:lnTo>
                  <a:pt x="49249" y="697949"/>
                </a:lnTo>
              </a:path>
              <a:path w="304165" h="698500">
                <a:moveTo>
                  <a:pt x="213474" y="303824"/>
                </a:moveTo>
                <a:lnTo>
                  <a:pt x="303774" y="303824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239500" y="2188704"/>
            <a:ext cx="642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Challenge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Set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6515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Progress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27963"/>
            <a:ext cx="8071484" cy="359156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Completed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50" dirty="0">
                <a:latin typeface="Times New Roman" panose="02020603050405020304"/>
                <a:cs typeface="Times New Roman" panose="02020603050405020304"/>
              </a:rPr>
              <a:t>: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68275" indent="-155575">
              <a:lnSpc>
                <a:spcPct val="100000"/>
              </a:lnSpc>
              <a:spcBef>
                <a:spcPts val="720"/>
              </a:spcBef>
              <a:buAutoNum type="arabicParenR"/>
              <a:tabLst>
                <a:tab pos="168275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Applied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FBP</a:t>
            </a:r>
            <a:r>
              <a:rPr sz="1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on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LoDoPaB-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CT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dataset.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77165" indent="-164465">
              <a:lnSpc>
                <a:spcPct val="100000"/>
              </a:lnSpc>
              <a:spcBef>
                <a:spcPts val="720"/>
              </a:spcBef>
              <a:buAutoNum type="arabicParenR"/>
              <a:tabLst>
                <a:tab pos="177165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Explored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multiple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filters: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Hann,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Hamming,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Cosine,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RamLak,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Shepp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Logan.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77165" indent="-164465">
              <a:lnSpc>
                <a:spcPct val="100000"/>
              </a:lnSpc>
              <a:spcBef>
                <a:spcPts val="720"/>
              </a:spcBef>
              <a:buAutoNum type="arabicParenR"/>
              <a:tabLst>
                <a:tab pos="177165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Preprocessing</a:t>
            </a:r>
            <a:r>
              <a:rPr sz="1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Post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Processing: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Bilateral,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Gaussian,</a:t>
            </a: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Wavelet,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Median,</a:t>
            </a: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TV</a:t>
            </a: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denoising,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Non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Local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Means,</a:t>
            </a:r>
            <a:r>
              <a:rPr sz="12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Anscombe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transform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77165" indent="-164465">
              <a:lnSpc>
                <a:spcPct val="100000"/>
              </a:lnSpc>
              <a:spcBef>
                <a:spcPts val="720"/>
              </a:spcBef>
              <a:buAutoNum type="arabicParenR"/>
              <a:tabLst>
                <a:tab pos="177165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Deep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Learning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Enhancement</a:t>
            </a:r>
            <a:r>
              <a:rPr sz="1200" spc="22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Trained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U-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Net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enhanced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images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obtained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FBP.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68275" indent="-155575">
              <a:lnSpc>
                <a:spcPct val="100000"/>
              </a:lnSpc>
              <a:spcBef>
                <a:spcPts val="720"/>
              </a:spcBef>
              <a:buAutoNum type="arabicParenR"/>
              <a:tabLst>
                <a:tab pos="168275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Applied</a:t>
            </a:r>
            <a:r>
              <a:rPr sz="1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TV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Regularization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LoDoPaB-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CT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dataset.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68275" indent="-155575">
              <a:lnSpc>
                <a:spcPct val="100000"/>
              </a:lnSpc>
              <a:spcBef>
                <a:spcPts val="720"/>
              </a:spcBef>
              <a:buAutoNum type="arabicParenR"/>
              <a:tabLst>
                <a:tab pos="168275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Applied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Learned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PD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LoDoPaB-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CT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dataset.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buFont typeface="Times New Roman" panose="02020603050405020304"/>
              <a:buAutoNum type="arabicParenR"/>
            </a:pP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Times New Roman" panose="02020603050405020304"/>
              <a:buAutoNum type="arabicParenR"/>
            </a:pP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Future</a:t>
            </a:r>
            <a:r>
              <a:rPr sz="12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Work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50" dirty="0">
                <a:latin typeface="Times New Roman" panose="02020603050405020304"/>
                <a:cs typeface="Times New Roman" panose="02020603050405020304"/>
              </a:rPr>
              <a:t>: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77165" lvl="1" indent="-164465">
              <a:lnSpc>
                <a:spcPct val="100000"/>
              </a:lnSpc>
              <a:spcBef>
                <a:spcPts val="720"/>
              </a:spcBef>
              <a:buAutoNum type="arabicParenR"/>
              <a:tabLst>
                <a:tab pos="177165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Extend</a:t>
            </a: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experiments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other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CT</a:t>
            </a: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datasets: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SynthRAD,</a:t>
            </a:r>
            <a:r>
              <a:rPr sz="1200" b="1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AAPM</a:t>
            </a:r>
            <a:r>
              <a:rPr sz="12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Low-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Dose</a:t>
            </a:r>
            <a:r>
              <a:rPr sz="12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Challenge,</a:t>
            </a:r>
            <a:r>
              <a:rPr sz="12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12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Mayo</a:t>
            </a:r>
            <a:r>
              <a:rPr sz="12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Clinic</a:t>
            </a:r>
            <a:r>
              <a:rPr sz="12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datasets.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77165" lvl="1" indent="-164465">
              <a:lnSpc>
                <a:spcPct val="100000"/>
              </a:lnSpc>
              <a:spcBef>
                <a:spcPts val="720"/>
              </a:spcBef>
              <a:buFont typeface="Times New Roman" panose="02020603050405020304"/>
              <a:buAutoNum type="arabicParenR"/>
              <a:tabLst>
                <a:tab pos="177165" algn="l"/>
              </a:tabLst>
            </a:pP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Cross-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scanner</a:t>
            </a:r>
            <a:r>
              <a:rPr sz="12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cross-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dose</a:t>
            </a:r>
            <a:r>
              <a:rPr sz="1200" b="1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generalization.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77165" lvl="1" indent="-164465">
              <a:lnSpc>
                <a:spcPct val="100000"/>
              </a:lnSpc>
              <a:spcBef>
                <a:spcPts val="720"/>
              </a:spcBef>
              <a:buAutoNum type="arabicParenR"/>
              <a:tabLst>
                <a:tab pos="177165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Exploring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deep</a:t>
            </a:r>
            <a:r>
              <a:rPr sz="12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learning</a:t>
            </a:r>
            <a:r>
              <a:rPr sz="12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reconstruction</a:t>
            </a:r>
            <a:r>
              <a:rPr sz="12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networks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68275" lvl="1" indent="-155575">
              <a:lnSpc>
                <a:spcPct val="100000"/>
              </a:lnSpc>
              <a:spcBef>
                <a:spcPts val="720"/>
              </a:spcBef>
              <a:buAutoNum type="arabicParenR"/>
              <a:tabLst>
                <a:tab pos="168275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Assess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impact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downstream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tasks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such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segmentation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12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lesion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detection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.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1525" y="4778067"/>
            <a:ext cx="167005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20</a:t>
            </a:r>
            <a:endParaRPr sz="10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16660" y="2420685"/>
            <a:ext cx="6875145" cy="557530"/>
            <a:chOff x="1216660" y="2420685"/>
            <a:chExt cx="6875145" cy="557530"/>
          </a:xfrm>
        </p:grpSpPr>
        <p:sp>
          <p:nvSpPr>
            <p:cNvPr id="3" name="object 3"/>
            <p:cNvSpPr/>
            <p:nvPr/>
          </p:nvSpPr>
          <p:spPr>
            <a:xfrm>
              <a:off x="2722295" y="2540317"/>
              <a:ext cx="2671445" cy="324485"/>
            </a:xfrm>
            <a:custGeom>
              <a:avLst/>
              <a:gdLst/>
              <a:ahLst/>
              <a:cxnLst/>
              <a:rect l="l" t="t" r="r" b="b"/>
              <a:pathLst>
                <a:path w="2671445" h="324485">
                  <a:moveTo>
                    <a:pt x="1283423" y="42278"/>
                  </a:moveTo>
                  <a:lnTo>
                    <a:pt x="1256957" y="7772"/>
                  </a:lnTo>
                  <a:lnTo>
                    <a:pt x="21793" y="269125"/>
                  </a:lnTo>
                  <a:lnTo>
                    <a:pt x="11506" y="273570"/>
                  </a:lnTo>
                  <a:lnTo>
                    <a:pt x="4013" y="281343"/>
                  </a:lnTo>
                  <a:lnTo>
                    <a:pt x="0" y="291376"/>
                  </a:lnTo>
                  <a:lnTo>
                    <a:pt x="165" y="302577"/>
                  </a:lnTo>
                  <a:lnTo>
                    <a:pt x="4673" y="312864"/>
                  </a:lnTo>
                  <a:lnTo>
                    <a:pt x="12496" y="320382"/>
                  </a:lnTo>
                  <a:lnTo>
                    <a:pt x="22301" y="324332"/>
                  </a:lnTo>
                  <a:lnTo>
                    <a:pt x="33794" y="324332"/>
                  </a:lnTo>
                  <a:lnTo>
                    <a:pt x="1261630" y="64528"/>
                  </a:lnTo>
                  <a:lnTo>
                    <a:pt x="1271917" y="60083"/>
                  </a:lnTo>
                  <a:lnTo>
                    <a:pt x="1279410" y="52311"/>
                  </a:lnTo>
                  <a:lnTo>
                    <a:pt x="1283423" y="42278"/>
                  </a:lnTo>
                  <a:close/>
                </a:path>
                <a:path w="2671445" h="324485">
                  <a:moveTo>
                    <a:pt x="2670822" y="283603"/>
                  </a:moveTo>
                  <a:lnTo>
                    <a:pt x="2666809" y="273570"/>
                  </a:lnTo>
                  <a:lnTo>
                    <a:pt x="2659316" y="265798"/>
                  </a:lnTo>
                  <a:lnTo>
                    <a:pt x="2649029" y="261353"/>
                  </a:lnTo>
                  <a:lnTo>
                    <a:pt x="1413865" y="0"/>
                  </a:lnTo>
                  <a:lnTo>
                    <a:pt x="1406207" y="1422"/>
                  </a:lnTo>
                  <a:lnTo>
                    <a:pt x="1393583" y="9575"/>
                  </a:lnTo>
                  <a:lnTo>
                    <a:pt x="1389151" y="15976"/>
                  </a:lnTo>
                  <a:lnTo>
                    <a:pt x="1387563" y="23304"/>
                  </a:lnTo>
                  <a:lnTo>
                    <a:pt x="1387398" y="34505"/>
                  </a:lnTo>
                  <a:lnTo>
                    <a:pt x="1391412" y="44526"/>
                  </a:lnTo>
                  <a:lnTo>
                    <a:pt x="1398905" y="52298"/>
                  </a:lnTo>
                  <a:lnTo>
                    <a:pt x="1409192" y="56743"/>
                  </a:lnTo>
                  <a:lnTo>
                    <a:pt x="2637028" y="316560"/>
                  </a:lnTo>
                  <a:lnTo>
                    <a:pt x="2648521" y="316560"/>
                  </a:lnTo>
                  <a:lnTo>
                    <a:pt x="2658326" y="312610"/>
                  </a:lnTo>
                  <a:lnTo>
                    <a:pt x="2666149" y="305079"/>
                  </a:lnTo>
                  <a:lnTo>
                    <a:pt x="2670657" y="294805"/>
                  </a:lnTo>
                  <a:lnTo>
                    <a:pt x="2670822" y="283603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34977" y="2582508"/>
              <a:ext cx="1283970" cy="316865"/>
            </a:xfrm>
            <a:custGeom>
              <a:avLst/>
              <a:gdLst/>
              <a:ahLst/>
              <a:cxnLst/>
              <a:rect l="l" t="t" r="r" b="b"/>
              <a:pathLst>
                <a:path w="1283970" h="316864">
                  <a:moveTo>
                    <a:pt x="1261123" y="316556"/>
                  </a:moveTo>
                  <a:lnTo>
                    <a:pt x="1249631" y="316556"/>
                  </a:lnTo>
                  <a:lnTo>
                    <a:pt x="21796" y="56750"/>
                  </a:lnTo>
                  <a:lnTo>
                    <a:pt x="11512" y="52306"/>
                  </a:lnTo>
                  <a:lnTo>
                    <a:pt x="4014" y="44532"/>
                  </a:lnTo>
                  <a:lnTo>
                    <a:pt x="0" y="34506"/>
                  </a:lnTo>
                  <a:lnTo>
                    <a:pt x="163" y="23303"/>
                  </a:lnTo>
                  <a:lnTo>
                    <a:pt x="1755" y="15983"/>
                  </a:lnTo>
                  <a:lnTo>
                    <a:pt x="6192" y="9579"/>
                  </a:lnTo>
                  <a:lnTo>
                    <a:pt x="18807" y="1420"/>
                  </a:lnTo>
                  <a:lnTo>
                    <a:pt x="26468" y="0"/>
                  </a:lnTo>
                  <a:lnTo>
                    <a:pt x="1261631" y="261356"/>
                  </a:lnTo>
                  <a:lnTo>
                    <a:pt x="1271915" y="265801"/>
                  </a:lnTo>
                  <a:lnTo>
                    <a:pt x="1279413" y="273575"/>
                  </a:lnTo>
                  <a:lnTo>
                    <a:pt x="1283427" y="283601"/>
                  </a:lnTo>
                  <a:lnTo>
                    <a:pt x="1283264" y="294803"/>
                  </a:lnTo>
                  <a:lnTo>
                    <a:pt x="1278756" y="305087"/>
                  </a:lnTo>
                  <a:lnTo>
                    <a:pt x="1270927" y="312607"/>
                  </a:lnTo>
                  <a:lnTo>
                    <a:pt x="1261123" y="316556"/>
                  </a:lnTo>
                  <a:close/>
                </a:path>
              </a:pathLst>
            </a:custGeom>
            <a:solidFill>
              <a:srgbClr val="701B7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544149" y="2743996"/>
              <a:ext cx="191956" cy="19366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16660" y="2476373"/>
              <a:ext cx="191956" cy="19366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698577" y="2548083"/>
              <a:ext cx="1283970" cy="316865"/>
            </a:xfrm>
            <a:custGeom>
              <a:avLst/>
              <a:gdLst/>
              <a:ahLst/>
              <a:cxnLst/>
              <a:rect l="l" t="t" r="r" b="b"/>
              <a:pathLst>
                <a:path w="1283970" h="316864">
                  <a:moveTo>
                    <a:pt x="1261123" y="316556"/>
                  </a:moveTo>
                  <a:lnTo>
                    <a:pt x="1249631" y="316556"/>
                  </a:lnTo>
                  <a:lnTo>
                    <a:pt x="21796" y="56750"/>
                  </a:lnTo>
                  <a:lnTo>
                    <a:pt x="11512" y="52306"/>
                  </a:lnTo>
                  <a:lnTo>
                    <a:pt x="4014" y="44532"/>
                  </a:lnTo>
                  <a:lnTo>
                    <a:pt x="0" y="34506"/>
                  </a:lnTo>
                  <a:lnTo>
                    <a:pt x="164" y="23303"/>
                  </a:lnTo>
                  <a:lnTo>
                    <a:pt x="1755" y="15983"/>
                  </a:lnTo>
                  <a:lnTo>
                    <a:pt x="6192" y="9579"/>
                  </a:lnTo>
                  <a:lnTo>
                    <a:pt x="18807" y="1420"/>
                  </a:lnTo>
                  <a:lnTo>
                    <a:pt x="26467" y="0"/>
                  </a:lnTo>
                  <a:lnTo>
                    <a:pt x="1261631" y="261356"/>
                  </a:lnTo>
                  <a:lnTo>
                    <a:pt x="1271915" y="265801"/>
                  </a:lnTo>
                  <a:lnTo>
                    <a:pt x="1279413" y="273575"/>
                  </a:lnTo>
                  <a:lnTo>
                    <a:pt x="1283428" y="283601"/>
                  </a:lnTo>
                  <a:lnTo>
                    <a:pt x="1283264" y="294803"/>
                  </a:lnTo>
                  <a:lnTo>
                    <a:pt x="1278756" y="305087"/>
                  </a:lnTo>
                  <a:lnTo>
                    <a:pt x="1270927" y="312607"/>
                  </a:lnTo>
                  <a:lnTo>
                    <a:pt x="1261123" y="316556"/>
                  </a:lnTo>
                  <a:close/>
                </a:path>
              </a:pathLst>
            </a:custGeom>
            <a:solidFill>
              <a:srgbClr val="701B7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9501" y="2776856"/>
              <a:ext cx="191956" cy="19366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435355" y="2550867"/>
              <a:ext cx="1283970" cy="311785"/>
            </a:xfrm>
            <a:custGeom>
              <a:avLst/>
              <a:gdLst/>
              <a:ahLst/>
              <a:cxnLst/>
              <a:rect l="l" t="t" r="r" b="b"/>
              <a:pathLst>
                <a:path w="1283970" h="311785">
                  <a:moveTo>
                    <a:pt x="29704" y="311172"/>
                  </a:moveTo>
                  <a:lnTo>
                    <a:pt x="19592" y="311172"/>
                  </a:lnTo>
                  <a:lnTo>
                    <a:pt x="10968" y="307693"/>
                  </a:lnTo>
                  <a:lnTo>
                    <a:pt x="4086" y="301072"/>
                  </a:lnTo>
                  <a:lnTo>
                    <a:pt x="132" y="292018"/>
                  </a:lnTo>
                  <a:lnTo>
                    <a:pt x="0" y="282155"/>
                  </a:lnTo>
                  <a:lnTo>
                    <a:pt x="3543" y="273328"/>
                  </a:lnTo>
                  <a:lnTo>
                    <a:pt x="10149" y="266484"/>
                  </a:lnTo>
                  <a:lnTo>
                    <a:pt x="19204" y="262572"/>
                  </a:lnTo>
                  <a:lnTo>
                    <a:pt x="1260110" y="0"/>
                  </a:lnTo>
                  <a:lnTo>
                    <a:pt x="1266849" y="1251"/>
                  </a:lnTo>
                  <a:lnTo>
                    <a:pt x="1277941" y="8435"/>
                  </a:lnTo>
                  <a:lnTo>
                    <a:pt x="1281839" y="14073"/>
                  </a:lnTo>
                  <a:lnTo>
                    <a:pt x="1283231" y="20518"/>
                  </a:lnTo>
                  <a:lnTo>
                    <a:pt x="1283364" y="30381"/>
                  </a:lnTo>
                  <a:lnTo>
                    <a:pt x="1279820" y="39208"/>
                  </a:lnTo>
                  <a:lnTo>
                    <a:pt x="1273214" y="46052"/>
                  </a:lnTo>
                  <a:lnTo>
                    <a:pt x="1264159" y="49965"/>
                  </a:lnTo>
                  <a:lnTo>
                    <a:pt x="29704" y="311172"/>
                  </a:lnTo>
                  <a:close/>
                </a:path>
              </a:pathLst>
            </a:custGeom>
            <a:solidFill>
              <a:srgbClr val="701B7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1771" y="2420685"/>
              <a:ext cx="191956" cy="19366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07005" y="2784321"/>
              <a:ext cx="191956" cy="19366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554910" y="2420685"/>
              <a:ext cx="191956" cy="19366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398838" y="2978748"/>
            <a:ext cx="349250" cy="29210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750" b="1" dirty="0">
                <a:solidFill>
                  <a:srgbClr val="701B7F"/>
                </a:solidFill>
                <a:latin typeface="Times New Roman" panose="02020603050405020304"/>
                <a:cs typeface="Times New Roman" panose="02020603050405020304"/>
              </a:rPr>
              <a:t>Phase</a:t>
            </a:r>
            <a:r>
              <a:rPr sz="750" b="1" spc="60" dirty="0">
                <a:solidFill>
                  <a:srgbClr val="701B7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b="1" spc="-50" dirty="0">
                <a:solidFill>
                  <a:srgbClr val="701B7F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endParaRPr sz="750">
              <a:latin typeface="Times New Roman" panose="02020603050405020304"/>
              <a:cs typeface="Times New Roman" panose="02020603050405020304"/>
            </a:endParaRPr>
          </a:p>
          <a:p>
            <a:pPr marL="210820">
              <a:lnSpc>
                <a:spcPct val="100000"/>
              </a:lnSpc>
              <a:spcBef>
                <a:spcPts val="150"/>
              </a:spcBef>
            </a:pPr>
            <a:r>
              <a:rPr sz="750" b="1" spc="-50" dirty="0">
                <a:solidFill>
                  <a:srgbClr val="701B7F"/>
                </a:solidFill>
                <a:latin typeface="Times New Roman" panose="02020603050405020304"/>
                <a:cs typeface="Times New Roman" panose="02020603050405020304"/>
              </a:rPr>
              <a:t>P</a:t>
            </a:r>
            <a:endParaRPr sz="7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809134" y="3249877"/>
            <a:ext cx="1662430" cy="688975"/>
          </a:xfrm>
          <a:custGeom>
            <a:avLst/>
            <a:gdLst/>
            <a:ahLst/>
            <a:cxnLst/>
            <a:rect l="l" t="t" r="r" b="b"/>
            <a:pathLst>
              <a:path w="1662429" h="688975">
                <a:moveTo>
                  <a:pt x="1631120" y="688585"/>
                </a:moveTo>
                <a:lnTo>
                  <a:pt x="30883" y="688585"/>
                </a:lnTo>
                <a:lnTo>
                  <a:pt x="18862" y="686159"/>
                </a:lnTo>
                <a:lnTo>
                  <a:pt x="9045" y="679540"/>
                </a:lnTo>
                <a:lnTo>
                  <a:pt x="2426" y="669723"/>
                </a:lnTo>
                <a:lnTo>
                  <a:pt x="0" y="657702"/>
                </a:lnTo>
                <a:lnTo>
                  <a:pt x="0" y="30882"/>
                </a:lnTo>
                <a:lnTo>
                  <a:pt x="2426" y="18861"/>
                </a:lnTo>
                <a:lnTo>
                  <a:pt x="9045" y="9045"/>
                </a:lnTo>
                <a:lnTo>
                  <a:pt x="18862" y="2426"/>
                </a:lnTo>
                <a:lnTo>
                  <a:pt x="30883" y="0"/>
                </a:lnTo>
                <a:lnTo>
                  <a:pt x="1639311" y="0"/>
                </a:lnTo>
                <a:lnTo>
                  <a:pt x="1647166" y="3253"/>
                </a:lnTo>
                <a:lnTo>
                  <a:pt x="1658750" y="14836"/>
                </a:lnTo>
                <a:lnTo>
                  <a:pt x="1662003" y="22692"/>
                </a:lnTo>
                <a:lnTo>
                  <a:pt x="1662003" y="657702"/>
                </a:lnTo>
                <a:lnTo>
                  <a:pt x="1659577" y="669723"/>
                </a:lnTo>
                <a:lnTo>
                  <a:pt x="1652958" y="679540"/>
                </a:lnTo>
                <a:lnTo>
                  <a:pt x="1643141" y="686159"/>
                </a:lnTo>
                <a:lnTo>
                  <a:pt x="1631120" y="688585"/>
                </a:lnTo>
                <a:close/>
              </a:path>
            </a:pathLst>
          </a:custGeom>
          <a:solidFill>
            <a:srgbClr val="701B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984073" y="3341519"/>
            <a:ext cx="1312545" cy="425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-635" algn="ctr">
              <a:lnSpc>
                <a:spcPct val="117000"/>
              </a:lnSpc>
              <a:spcBef>
                <a:spcPts val="90"/>
              </a:spcBef>
            </a:pPr>
            <a:r>
              <a:rPr sz="7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Exploring</a:t>
            </a:r>
            <a:r>
              <a:rPr sz="750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FBP</a:t>
            </a:r>
            <a:r>
              <a:rPr sz="750" spc="3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+</a:t>
            </a:r>
            <a:r>
              <a:rPr sz="750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Mathematical</a:t>
            </a:r>
            <a:r>
              <a:rPr sz="750" spc="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filters</a:t>
            </a:r>
            <a:r>
              <a:rPr sz="750" spc="3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+</a:t>
            </a:r>
            <a:r>
              <a:rPr sz="750" spc="3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Pre</a:t>
            </a:r>
            <a:r>
              <a:rPr sz="750" spc="3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750" spc="3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Post</a:t>
            </a:r>
            <a:r>
              <a:rPr sz="750" spc="3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processing</a:t>
            </a:r>
            <a:r>
              <a:rPr sz="750" spc="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methods</a:t>
            </a:r>
            <a:endParaRPr sz="7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596468" y="3186598"/>
            <a:ext cx="87630" cy="66675"/>
          </a:xfrm>
          <a:custGeom>
            <a:avLst/>
            <a:gdLst/>
            <a:ahLst/>
            <a:cxnLst/>
            <a:rect l="l" t="t" r="r" b="b"/>
            <a:pathLst>
              <a:path w="87630" h="66675">
                <a:moveTo>
                  <a:pt x="87335" y="66068"/>
                </a:moveTo>
                <a:lnTo>
                  <a:pt x="0" y="66068"/>
                </a:lnTo>
                <a:lnTo>
                  <a:pt x="43667" y="0"/>
                </a:lnTo>
                <a:lnTo>
                  <a:pt x="87335" y="66068"/>
                </a:lnTo>
                <a:close/>
              </a:path>
            </a:pathLst>
          </a:custGeom>
          <a:solidFill>
            <a:srgbClr val="701B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84378" y="1460258"/>
            <a:ext cx="1662430" cy="750570"/>
          </a:xfrm>
          <a:custGeom>
            <a:avLst/>
            <a:gdLst/>
            <a:ahLst/>
            <a:cxnLst/>
            <a:rect l="l" t="t" r="r" b="b"/>
            <a:pathLst>
              <a:path w="1662430" h="750569">
                <a:moveTo>
                  <a:pt x="1662010" y="22694"/>
                </a:moveTo>
                <a:lnTo>
                  <a:pt x="1658747" y="14833"/>
                </a:lnTo>
                <a:lnTo>
                  <a:pt x="1647164" y="3251"/>
                </a:lnTo>
                <a:lnTo>
                  <a:pt x="1639316" y="0"/>
                </a:lnTo>
                <a:lnTo>
                  <a:pt x="30886" y="0"/>
                </a:lnTo>
                <a:lnTo>
                  <a:pt x="18859" y="2425"/>
                </a:lnTo>
                <a:lnTo>
                  <a:pt x="9042" y="9042"/>
                </a:lnTo>
                <a:lnTo>
                  <a:pt x="2425" y="18859"/>
                </a:lnTo>
                <a:lnTo>
                  <a:pt x="0" y="30886"/>
                </a:lnTo>
                <a:lnTo>
                  <a:pt x="0" y="657694"/>
                </a:lnTo>
                <a:lnTo>
                  <a:pt x="2425" y="669721"/>
                </a:lnTo>
                <a:lnTo>
                  <a:pt x="9042" y="679538"/>
                </a:lnTo>
                <a:lnTo>
                  <a:pt x="18859" y="686155"/>
                </a:lnTo>
                <a:lnTo>
                  <a:pt x="30886" y="688581"/>
                </a:lnTo>
                <a:lnTo>
                  <a:pt x="790155" y="688581"/>
                </a:lnTo>
                <a:lnTo>
                  <a:pt x="830986" y="750341"/>
                </a:lnTo>
                <a:lnTo>
                  <a:pt x="871791" y="688581"/>
                </a:lnTo>
                <a:lnTo>
                  <a:pt x="1631124" y="688581"/>
                </a:lnTo>
                <a:lnTo>
                  <a:pt x="1643138" y="686155"/>
                </a:lnTo>
                <a:lnTo>
                  <a:pt x="1652955" y="679538"/>
                </a:lnTo>
                <a:lnTo>
                  <a:pt x="1659585" y="669721"/>
                </a:lnTo>
                <a:lnTo>
                  <a:pt x="1662010" y="657694"/>
                </a:lnTo>
                <a:lnTo>
                  <a:pt x="1662010" y="22694"/>
                </a:lnTo>
                <a:close/>
              </a:path>
            </a:pathLst>
          </a:custGeom>
          <a:solidFill>
            <a:srgbClr val="701B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140088" y="2278419"/>
            <a:ext cx="349250" cy="1454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50" b="1" dirty="0">
                <a:solidFill>
                  <a:srgbClr val="701B7F"/>
                </a:solidFill>
                <a:latin typeface="Times New Roman" panose="02020603050405020304"/>
                <a:cs typeface="Times New Roman" panose="02020603050405020304"/>
              </a:rPr>
              <a:t>Phase</a:t>
            </a:r>
            <a:r>
              <a:rPr sz="750" b="1" spc="60" dirty="0">
                <a:solidFill>
                  <a:srgbClr val="701B7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b="1" spc="-50" dirty="0">
                <a:solidFill>
                  <a:srgbClr val="701B7F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endParaRPr sz="7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0475" y="1551893"/>
            <a:ext cx="1169670" cy="2921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38150" marR="5080" indent="-426085">
              <a:lnSpc>
                <a:spcPct val="117000"/>
              </a:lnSpc>
              <a:spcBef>
                <a:spcPts val="90"/>
              </a:spcBef>
            </a:pPr>
            <a:r>
              <a:rPr sz="7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Literature</a:t>
            </a:r>
            <a:r>
              <a:rPr sz="750" spc="6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Review</a:t>
            </a:r>
            <a:r>
              <a:rPr sz="750" spc="6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(Research</a:t>
            </a:r>
            <a:r>
              <a:rPr sz="750" spc="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papers)</a:t>
            </a:r>
            <a:endParaRPr sz="7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161720" y="3236315"/>
            <a:ext cx="1662430" cy="750570"/>
          </a:xfrm>
          <a:custGeom>
            <a:avLst/>
            <a:gdLst/>
            <a:ahLst/>
            <a:cxnLst/>
            <a:rect l="l" t="t" r="r" b="b"/>
            <a:pathLst>
              <a:path w="1662429" h="750570">
                <a:moveTo>
                  <a:pt x="1661998" y="92633"/>
                </a:moveTo>
                <a:lnTo>
                  <a:pt x="1659572" y="80619"/>
                </a:lnTo>
                <a:lnTo>
                  <a:pt x="1652955" y="70802"/>
                </a:lnTo>
                <a:lnTo>
                  <a:pt x="1643138" y="64185"/>
                </a:lnTo>
                <a:lnTo>
                  <a:pt x="1631124" y="61747"/>
                </a:lnTo>
                <a:lnTo>
                  <a:pt x="871842" y="61747"/>
                </a:lnTo>
                <a:lnTo>
                  <a:pt x="831024" y="0"/>
                </a:lnTo>
                <a:lnTo>
                  <a:pt x="790206" y="61747"/>
                </a:lnTo>
                <a:lnTo>
                  <a:pt x="30886" y="61747"/>
                </a:lnTo>
                <a:lnTo>
                  <a:pt x="18859" y="64185"/>
                </a:lnTo>
                <a:lnTo>
                  <a:pt x="9042" y="70802"/>
                </a:lnTo>
                <a:lnTo>
                  <a:pt x="2425" y="80619"/>
                </a:lnTo>
                <a:lnTo>
                  <a:pt x="0" y="92633"/>
                </a:lnTo>
                <a:lnTo>
                  <a:pt x="0" y="727646"/>
                </a:lnTo>
                <a:lnTo>
                  <a:pt x="3251" y="735495"/>
                </a:lnTo>
                <a:lnTo>
                  <a:pt x="9042" y="741299"/>
                </a:lnTo>
                <a:lnTo>
                  <a:pt x="14833" y="747090"/>
                </a:lnTo>
                <a:lnTo>
                  <a:pt x="22694" y="750341"/>
                </a:lnTo>
                <a:lnTo>
                  <a:pt x="1631124" y="750341"/>
                </a:lnTo>
                <a:lnTo>
                  <a:pt x="1643138" y="747915"/>
                </a:lnTo>
                <a:lnTo>
                  <a:pt x="1652955" y="741299"/>
                </a:lnTo>
                <a:lnTo>
                  <a:pt x="1659572" y="731481"/>
                </a:lnTo>
                <a:lnTo>
                  <a:pt x="1661998" y="719455"/>
                </a:lnTo>
                <a:lnTo>
                  <a:pt x="1661998" y="92633"/>
                </a:lnTo>
                <a:close/>
              </a:path>
            </a:pathLst>
          </a:custGeom>
          <a:solidFill>
            <a:srgbClr val="701B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7819040" y="3036410"/>
            <a:ext cx="349250" cy="1454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50" b="1" dirty="0">
                <a:solidFill>
                  <a:srgbClr val="701B7F"/>
                </a:solidFill>
                <a:latin typeface="Times New Roman" panose="02020603050405020304"/>
                <a:cs typeface="Times New Roman" panose="02020603050405020304"/>
              </a:rPr>
              <a:t>Phase</a:t>
            </a:r>
            <a:r>
              <a:rPr sz="750" b="1" spc="60" dirty="0">
                <a:solidFill>
                  <a:srgbClr val="701B7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b="1" spc="-50" dirty="0">
                <a:solidFill>
                  <a:srgbClr val="701B7F"/>
                </a:solidFill>
                <a:latin typeface="Times New Roman" panose="02020603050405020304"/>
                <a:cs typeface="Times New Roman" panose="02020603050405020304"/>
              </a:rPr>
              <a:t>6</a:t>
            </a:r>
            <a:endParaRPr sz="7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20642" y="3391909"/>
            <a:ext cx="1304925" cy="425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90"/>
              </a:spcBef>
            </a:pPr>
            <a:r>
              <a:rPr sz="7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Assessing</a:t>
            </a:r>
            <a:r>
              <a:rPr sz="750" spc="13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downstream</a:t>
            </a:r>
            <a:r>
              <a:rPr sz="750" spc="13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task</a:t>
            </a:r>
            <a:r>
              <a:rPr sz="750" spc="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performance</a:t>
            </a:r>
            <a:r>
              <a:rPr sz="750" spc="6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750" spc="6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quantify</a:t>
            </a:r>
            <a:r>
              <a:rPr sz="750" spc="6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clinical</a:t>
            </a:r>
            <a:r>
              <a:rPr sz="750" spc="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relevance</a:t>
            </a:r>
            <a:r>
              <a:rPr sz="750" spc="3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750" spc="3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750" spc="3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enhancement</a:t>
            </a:r>
            <a:endParaRPr sz="7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9926" rIns="0" bIns="0" rtlCol="0">
            <a:spAutoFit/>
          </a:bodyPr>
          <a:lstStyle/>
          <a:p>
            <a:pPr marL="24320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Timeline</a:t>
            </a:r>
            <a:endParaRPr spc="-10" dirty="0"/>
          </a:p>
        </p:txBody>
      </p:sp>
      <p:sp>
        <p:nvSpPr>
          <p:cNvPr id="25" name="object 25"/>
          <p:cNvSpPr txBox="1"/>
          <p:nvPr/>
        </p:nvSpPr>
        <p:spPr>
          <a:xfrm>
            <a:off x="3887659" y="2222732"/>
            <a:ext cx="349250" cy="1454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50" b="1" dirty="0">
                <a:latin typeface="Times New Roman" panose="02020603050405020304"/>
                <a:cs typeface="Times New Roman" panose="02020603050405020304"/>
              </a:rPr>
              <a:t>Phase</a:t>
            </a:r>
            <a:r>
              <a:rPr sz="750" b="1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b="1" spc="-50" dirty="0">
                <a:latin typeface="Times New Roman" panose="02020603050405020304"/>
                <a:cs typeface="Times New Roman" panose="02020603050405020304"/>
              </a:rPr>
              <a:t>3</a:t>
            </a:r>
            <a:endParaRPr sz="7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226752" y="1404569"/>
            <a:ext cx="1662430" cy="750570"/>
          </a:xfrm>
          <a:custGeom>
            <a:avLst/>
            <a:gdLst/>
            <a:ahLst/>
            <a:cxnLst/>
            <a:rect l="l" t="t" r="r" b="b"/>
            <a:pathLst>
              <a:path w="1662429" h="750569">
                <a:moveTo>
                  <a:pt x="1661998" y="22694"/>
                </a:moveTo>
                <a:lnTo>
                  <a:pt x="1658747" y="14833"/>
                </a:lnTo>
                <a:lnTo>
                  <a:pt x="1647164" y="3251"/>
                </a:lnTo>
                <a:lnTo>
                  <a:pt x="1639303" y="0"/>
                </a:lnTo>
                <a:lnTo>
                  <a:pt x="30886" y="0"/>
                </a:lnTo>
                <a:lnTo>
                  <a:pt x="18859" y="2425"/>
                </a:lnTo>
                <a:lnTo>
                  <a:pt x="9042" y="9042"/>
                </a:lnTo>
                <a:lnTo>
                  <a:pt x="2425" y="18859"/>
                </a:lnTo>
                <a:lnTo>
                  <a:pt x="0" y="30886"/>
                </a:lnTo>
                <a:lnTo>
                  <a:pt x="0" y="657707"/>
                </a:lnTo>
                <a:lnTo>
                  <a:pt x="2425" y="669721"/>
                </a:lnTo>
                <a:lnTo>
                  <a:pt x="9042" y="679538"/>
                </a:lnTo>
                <a:lnTo>
                  <a:pt x="18859" y="686155"/>
                </a:lnTo>
                <a:lnTo>
                  <a:pt x="30886" y="688581"/>
                </a:lnTo>
                <a:lnTo>
                  <a:pt x="790155" y="688581"/>
                </a:lnTo>
                <a:lnTo>
                  <a:pt x="830973" y="750341"/>
                </a:lnTo>
                <a:lnTo>
                  <a:pt x="871791" y="688581"/>
                </a:lnTo>
                <a:lnTo>
                  <a:pt x="1631124" y="688581"/>
                </a:lnTo>
                <a:lnTo>
                  <a:pt x="1643138" y="686155"/>
                </a:lnTo>
                <a:lnTo>
                  <a:pt x="1652955" y="679538"/>
                </a:lnTo>
                <a:lnTo>
                  <a:pt x="1659572" y="669721"/>
                </a:lnTo>
                <a:lnTo>
                  <a:pt x="1661998" y="657707"/>
                </a:lnTo>
                <a:lnTo>
                  <a:pt x="1661998" y="22694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346977" y="1496205"/>
            <a:ext cx="1422400" cy="425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17000"/>
              </a:lnSpc>
              <a:spcBef>
                <a:spcPts val="90"/>
              </a:spcBef>
            </a:pPr>
            <a:r>
              <a:rPr sz="750" dirty="0">
                <a:latin typeface="Times New Roman" panose="02020603050405020304"/>
                <a:cs typeface="Times New Roman" panose="02020603050405020304"/>
              </a:rPr>
              <a:t>Exploring</a:t>
            </a:r>
            <a:r>
              <a:rPr sz="75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75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spc="-10" dirty="0">
                <a:latin typeface="Times New Roman" panose="02020603050405020304"/>
                <a:cs typeface="Times New Roman" panose="02020603050405020304"/>
              </a:rPr>
              <a:t>Variation</a:t>
            </a:r>
            <a:r>
              <a:rPr sz="750" spc="5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latin typeface="Times New Roman" panose="02020603050405020304"/>
                <a:cs typeface="Times New Roman" panose="02020603050405020304"/>
              </a:rPr>
              <a:t>Regularization</a:t>
            </a:r>
            <a:r>
              <a:rPr sz="750" spc="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750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latin typeface="Times New Roman" panose="02020603050405020304"/>
                <a:cs typeface="Times New Roman" panose="02020603050405020304"/>
              </a:rPr>
              <a:t>Learned</a:t>
            </a:r>
            <a:r>
              <a:rPr sz="750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spc="-10" dirty="0">
                <a:latin typeface="Times New Roman" panose="02020603050405020304"/>
                <a:cs typeface="Times New Roman" panose="02020603050405020304"/>
              </a:rPr>
              <a:t>Primal</a:t>
            </a:r>
            <a:r>
              <a:rPr sz="750" spc="5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latin typeface="Times New Roman" panose="02020603050405020304"/>
                <a:cs typeface="Times New Roman" panose="02020603050405020304"/>
              </a:rPr>
              <a:t>Dual</a:t>
            </a:r>
            <a:r>
              <a:rPr sz="75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spc="-10" dirty="0">
                <a:latin typeface="Times New Roman" panose="02020603050405020304"/>
                <a:cs typeface="Times New Roman" panose="02020603050405020304"/>
              </a:rPr>
              <a:t>methods.</a:t>
            </a:r>
            <a:endParaRPr sz="7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20818" y="3032882"/>
            <a:ext cx="349250" cy="1454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50" b="1" dirty="0">
                <a:latin typeface="Times New Roman" panose="02020603050405020304"/>
                <a:cs typeface="Times New Roman" panose="02020603050405020304"/>
              </a:rPr>
              <a:t>Phase</a:t>
            </a:r>
            <a:r>
              <a:rPr sz="750" b="1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b="1" spc="-50" dirty="0">
                <a:latin typeface="Times New Roman" panose="02020603050405020304"/>
                <a:cs typeface="Times New Roman" panose="02020603050405020304"/>
              </a:rPr>
              <a:t>4</a:t>
            </a:r>
            <a:endParaRPr sz="7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571989" y="3290201"/>
            <a:ext cx="1662430" cy="688975"/>
          </a:xfrm>
          <a:custGeom>
            <a:avLst/>
            <a:gdLst/>
            <a:ahLst/>
            <a:cxnLst/>
            <a:rect l="l" t="t" r="r" b="b"/>
            <a:pathLst>
              <a:path w="1662429" h="688975">
                <a:moveTo>
                  <a:pt x="1631120" y="688585"/>
                </a:moveTo>
                <a:lnTo>
                  <a:pt x="30882" y="688585"/>
                </a:lnTo>
                <a:lnTo>
                  <a:pt x="18861" y="686159"/>
                </a:lnTo>
                <a:lnTo>
                  <a:pt x="9045" y="679540"/>
                </a:lnTo>
                <a:lnTo>
                  <a:pt x="2426" y="669723"/>
                </a:lnTo>
                <a:lnTo>
                  <a:pt x="0" y="657702"/>
                </a:lnTo>
                <a:lnTo>
                  <a:pt x="0" y="30882"/>
                </a:lnTo>
                <a:lnTo>
                  <a:pt x="2426" y="18862"/>
                </a:lnTo>
                <a:lnTo>
                  <a:pt x="9045" y="9045"/>
                </a:lnTo>
                <a:lnTo>
                  <a:pt x="18861" y="2426"/>
                </a:lnTo>
                <a:lnTo>
                  <a:pt x="30882" y="0"/>
                </a:lnTo>
                <a:lnTo>
                  <a:pt x="1639311" y="0"/>
                </a:lnTo>
                <a:lnTo>
                  <a:pt x="1647166" y="3253"/>
                </a:lnTo>
                <a:lnTo>
                  <a:pt x="1658749" y="14836"/>
                </a:lnTo>
                <a:lnTo>
                  <a:pt x="1662003" y="22692"/>
                </a:lnTo>
                <a:lnTo>
                  <a:pt x="1662003" y="657702"/>
                </a:lnTo>
                <a:lnTo>
                  <a:pt x="1659577" y="669723"/>
                </a:lnTo>
                <a:lnTo>
                  <a:pt x="1652958" y="679540"/>
                </a:lnTo>
                <a:lnTo>
                  <a:pt x="1643141" y="686159"/>
                </a:lnTo>
                <a:lnTo>
                  <a:pt x="1631120" y="688585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4703076" y="3442075"/>
            <a:ext cx="1400175" cy="2921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4455" marR="5080" indent="-72390">
              <a:lnSpc>
                <a:spcPct val="117000"/>
              </a:lnSpc>
              <a:spcBef>
                <a:spcPts val="90"/>
              </a:spcBef>
            </a:pPr>
            <a:r>
              <a:rPr sz="750" dirty="0">
                <a:latin typeface="Times New Roman" panose="02020603050405020304"/>
                <a:cs typeface="Times New Roman" panose="02020603050405020304"/>
              </a:rPr>
              <a:t>Combining</a:t>
            </a:r>
            <a:r>
              <a:rPr sz="750" spc="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latin typeface="Times New Roman" panose="02020603050405020304"/>
                <a:cs typeface="Times New Roman" panose="02020603050405020304"/>
              </a:rPr>
              <a:t>classical</a:t>
            </a:r>
            <a:r>
              <a:rPr sz="750" spc="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latin typeface="Times New Roman" panose="02020603050405020304"/>
                <a:cs typeface="Times New Roman" panose="02020603050405020304"/>
              </a:rPr>
              <a:t>methods</a:t>
            </a:r>
            <a:r>
              <a:rPr sz="750" spc="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spc="-2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750" spc="5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latin typeface="Times New Roman" panose="02020603050405020304"/>
                <a:cs typeface="Times New Roman" panose="02020603050405020304"/>
              </a:rPr>
              <a:t>deep</a:t>
            </a:r>
            <a:r>
              <a:rPr sz="75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latin typeface="Times New Roman" panose="02020603050405020304"/>
                <a:cs typeface="Times New Roman" panose="02020603050405020304"/>
              </a:rPr>
              <a:t>learning</a:t>
            </a:r>
            <a:r>
              <a:rPr sz="75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75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spc="-10" dirty="0">
                <a:latin typeface="Times New Roman" panose="02020603050405020304"/>
                <a:cs typeface="Times New Roman" panose="02020603050405020304"/>
              </a:rPr>
              <a:t>enhancement</a:t>
            </a:r>
            <a:endParaRPr sz="7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359322" y="3226923"/>
            <a:ext cx="87630" cy="66675"/>
          </a:xfrm>
          <a:custGeom>
            <a:avLst/>
            <a:gdLst/>
            <a:ahLst/>
            <a:cxnLst/>
            <a:rect l="l" t="t" r="r" b="b"/>
            <a:pathLst>
              <a:path w="87629" h="66675">
                <a:moveTo>
                  <a:pt x="87335" y="66068"/>
                </a:moveTo>
                <a:lnTo>
                  <a:pt x="0" y="66068"/>
                </a:lnTo>
                <a:lnTo>
                  <a:pt x="43667" y="0"/>
                </a:lnTo>
                <a:lnTo>
                  <a:pt x="87335" y="66068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822632" y="1404569"/>
            <a:ext cx="1662430" cy="750570"/>
          </a:xfrm>
          <a:custGeom>
            <a:avLst/>
            <a:gdLst/>
            <a:ahLst/>
            <a:cxnLst/>
            <a:rect l="l" t="t" r="r" b="b"/>
            <a:pathLst>
              <a:path w="1662429" h="750569">
                <a:moveTo>
                  <a:pt x="1661998" y="22694"/>
                </a:moveTo>
                <a:lnTo>
                  <a:pt x="1658747" y="14833"/>
                </a:lnTo>
                <a:lnTo>
                  <a:pt x="1647164" y="3251"/>
                </a:lnTo>
                <a:lnTo>
                  <a:pt x="1639316" y="0"/>
                </a:lnTo>
                <a:lnTo>
                  <a:pt x="30886" y="0"/>
                </a:lnTo>
                <a:lnTo>
                  <a:pt x="18859" y="2425"/>
                </a:lnTo>
                <a:lnTo>
                  <a:pt x="9042" y="9042"/>
                </a:lnTo>
                <a:lnTo>
                  <a:pt x="2425" y="18859"/>
                </a:lnTo>
                <a:lnTo>
                  <a:pt x="0" y="30886"/>
                </a:lnTo>
                <a:lnTo>
                  <a:pt x="0" y="657707"/>
                </a:lnTo>
                <a:lnTo>
                  <a:pt x="2425" y="669721"/>
                </a:lnTo>
                <a:lnTo>
                  <a:pt x="9042" y="679538"/>
                </a:lnTo>
                <a:lnTo>
                  <a:pt x="18859" y="686155"/>
                </a:lnTo>
                <a:lnTo>
                  <a:pt x="30886" y="688581"/>
                </a:lnTo>
                <a:lnTo>
                  <a:pt x="790155" y="688581"/>
                </a:lnTo>
                <a:lnTo>
                  <a:pt x="830973" y="750341"/>
                </a:lnTo>
                <a:lnTo>
                  <a:pt x="871791" y="688581"/>
                </a:lnTo>
                <a:lnTo>
                  <a:pt x="1631124" y="688581"/>
                </a:lnTo>
                <a:lnTo>
                  <a:pt x="1643138" y="686155"/>
                </a:lnTo>
                <a:lnTo>
                  <a:pt x="1652955" y="679538"/>
                </a:lnTo>
                <a:lnTo>
                  <a:pt x="1659572" y="669721"/>
                </a:lnTo>
                <a:lnTo>
                  <a:pt x="1661998" y="657707"/>
                </a:lnTo>
                <a:lnTo>
                  <a:pt x="1661998" y="22694"/>
                </a:lnTo>
                <a:close/>
              </a:path>
            </a:pathLst>
          </a:custGeom>
          <a:solidFill>
            <a:srgbClr val="701B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6478337" y="2222732"/>
            <a:ext cx="349250" cy="1454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50" b="1" dirty="0">
                <a:solidFill>
                  <a:srgbClr val="701B7F"/>
                </a:solidFill>
                <a:latin typeface="Times New Roman" panose="02020603050405020304"/>
                <a:cs typeface="Times New Roman" panose="02020603050405020304"/>
              </a:rPr>
              <a:t>Phase</a:t>
            </a:r>
            <a:r>
              <a:rPr sz="750" b="1" spc="60" dirty="0">
                <a:solidFill>
                  <a:srgbClr val="701B7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b="1" spc="-50" dirty="0">
                <a:solidFill>
                  <a:srgbClr val="701B7F"/>
                </a:solidFill>
                <a:latin typeface="Times New Roman" panose="02020603050405020304"/>
                <a:cs typeface="Times New Roman" panose="02020603050405020304"/>
              </a:rPr>
              <a:t>5</a:t>
            </a:r>
            <a:endParaRPr sz="7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61534" y="4759939"/>
            <a:ext cx="150495" cy="16383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50" spc="-2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21</a:t>
            </a:r>
            <a:endParaRPr sz="9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938602" y="1496205"/>
            <a:ext cx="1358265" cy="558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90"/>
              </a:spcBef>
            </a:pPr>
            <a:r>
              <a:rPr sz="7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Extensive</a:t>
            </a:r>
            <a:r>
              <a:rPr sz="750" spc="5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750" spc="6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rigorous</a:t>
            </a:r>
            <a:r>
              <a:rPr sz="750" spc="6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testing</a:t>
            </a:r>
            <a:r>
              <a:rPr sz="750" spc="6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spc="-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750" spc="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multi-site,</a:t>
            </a:r>
            <a:r>
              <a:rPr sz="750" spc="1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multi-</a:t>
            </a:r>
            <a:r>
              <a:rPr sz="75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acquisition</a:t>
            </a:r>
            <a:r>
              <a:rPr sz="750" spc="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datasets</a:t>
            </a:r>
            <a:r>
              <a:rPr sz="750" spc="6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750" spc="6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quantify</a:t>
            </a:r>
            <a:r>
              <a:rPr sz="750" spc="6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spc="-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750" spc="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5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generalizability</a:t>
            </a:r>
            <a:endParaRPr sz="75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80615" y="2123561"/>
            <a:ext cx="258127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dirty="0"/>
              <a:t>THANK</a:t>
            </a:r>
            <a:r>
              <a:rPr sz="3300" spc="-145" dirty="0"/>
              <a:t> </a:t>
            </a:r>
            <a:r>
              <a:rPr sz="3300" spc="-25" dirty="0"/>
              <a:t>YOU</a:t>
            </a:r>
            <a:endParaRPr sz="3300"/>
          </a:p>
        </p:txBody>
      </p:sp>
      <p:sp>
        <p:nvSpPr>
          <p:cNvPr id="4" name="object 4"/>
          <p:cNvSpPr txBox="1"/>
          <p:nvPr/>
        </p:nvSpPr>
        <p:spPr>
          <a:xfrm>
            <a:off x="8781525" y="4778067"/>
            <a:ext cx="167005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22</a:t>
            </a:r>
            <a:endParaRPr sz="10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D85C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6367</Words>
  <Application>WPS Presentation</Application>
  <PresentationFormat>On-screen Show (4:3)</PresentationFormat>
  <Paragraphs>601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Arial</vt:lpstr>
      <vt:lpstr>SimSun</vt:lpstr>
      <vt:lpstr>Wingdings</vt:lpstr>
      <vt:lpstr>Times New Roman</vt:lpstr>
      <vt:lpstr>Arial</vt:lpstr>
      <vt:lpstr>Calibri</vt:lpstr>
      <vt:lpstr>Microsoft YaHei</vt:lpstr>
      <vt:lpstr>Arial Unicode MS</vt:lpstr>
      <vt:lpstr>MS PMincho</vt:lpstr>
      <vt:lpstr>Segoe Print</vt:lpstr>
      <vt:lpstr>MS PGothic</vt:lpstr>
      <vt:lpstr>Office Theme</vt:lpstr>
      <vt:lpstr>Biomedical Image Enhancement using  Hybrid Techniques</vt:lpstr>
      <vt:lpstr>Contents</vt:lpstr>
      <vt:lpstr>Problem statement</vt:lpstr>
      <vt:lpstr>LoDoPaB - CT : Benchmark dataset for Low Dose reconstruction</vt:lpstr>
      <vt:lpstr>Mean metrics for test set (different filters) - FBP reconstruction</vt:lpstr>
      <vt:lpstr>Comparison of Metrics</vt:lpstr>
      <vt:lpstr>Best Mean Metrics for FBP(Hann_0.641)</vt:lpstr>
      <vt:lpstr>Preprocessing with Different Filters in Sinogram Domain (Test Set Mean Metrics)</vt:lpstr>
      <vt:lpstr>Post Processing with Different Filters in Image Domain (Test Set Mean Metrics)</vt:lpstr>
      <vt:lpstr>Why CT Reconstruction is an Inverse Problem</vt:lpstr>
      <vt:lpstr>Total Variation (TV) Regularization</vt:lpstr>
      <vt:lpstr>TV Reconstruction</vt:lpstr>
      <vt:lpstr>TV Reconstruction</vt:lpstr>
      <vt:lpstr>PowerPoint 演示文稿</vt:lpstr>
      <vt:lpstr>Mean Metrics for TV Reconstruction</vt:lpstr>
      <vt:lpstr>Learned Primal - Dual Reconstruction</vt:lpstr>
      <vt:lpstr>Learned Primal - Dual Reconstruction</vt:lpstr>
      <vt:lpstr>Learned Primal - Dual Reconstruction</vt:lpstr>
      <vt:lpstr>Mean Metrics for Learned Primal Dual Reconstruction</vt:lpstr>
      <vt:lpstr>Analysis - Test Set Results</vt:lpstr>
      <vt:lpstr>Progress</vt:lpstr>
      <vt:lpstr>Timeline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Biomedical Image Enhancement using  Hybrid Techniques</dc:title>
  <dc:creator/>
  <cp:lastModifiedBy>yogia</cp:lastModifiedBy>
  <cp:revision>2</cp:revision>
  <dcterms:created xsi:type="dcterms:W3CDTF">2026-04-03T04:27:00Z</dcterms:created>
  <dcterms:modified xsi:type="dcterms:W3CDTF">2026-04-03T04:36:38Z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2026-04-03T11:00:00Z</vt:filetime>
  </property>
  <property fmtid="{D5CDD505-2E9C-101B-9397-08002B2CF9AE}" pid="3" name="Creator">
    <vt:lpwstr>Google</vt:lpwstr>
  </property>
  <property fmtid="{D5CDD505-2E9C-101B-9397-08002B2CF9AE}" pid="4" name="LastSaved">
    <vt:filetime>2026-04-03T11:00:00Z</vt:filetime>
  </property>
  <property fmtid="{D5CDD505-2E9C-101B-9397-08002B2CF9AE}" pid="5" name="KSOProductBuildVer">
    <vt:lpwstr>1033-12.1.0.25830</vt:lpwstr>
  </property>
  <property fmtid="{D5CDD505-2E9C-101B-9397-08002B2CF9AE}" pid="6" name="ICV">
    <vt:lpwstr>48B9C1AC53404364A2524937E568D337_12</vt:lpwstr>
  </property>
</Properties>
</file>